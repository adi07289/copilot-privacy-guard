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17"/>
    <p:sldId id="267" r:id="rId18"/>
    <p:sldId id="262" r:id="rId8"/>
    <p:sldId id="268" r:id="rId19"/>
    <p:sldId id="269" r:id="rId20"/>
    <p:sldId id="270" r:id="rId21"/>
    <p:sldId id="271" r:id="rId22"/>
    <p:sldId id="272" r:id="rId23"/>
    <p:sldId id="263" r:id="rId9"/>
    <p:sldId id="264" r:id="rId10"/>
    <p:sldId id="265" r:id="rId11"/>
    <p:sldId id="273" r:id="rId24"/>
    <p:sldId id="274" r:id="rId25"/>
    <p:sldId id="275"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Ours (India-first)</c:v>
                </c:pt>
              </c:strCache>
            </c:strRef>
          </c:tx>
          <c:spPr>
            <a:solidFill>
              <a:srgbClr val="1F8A70"/>
            </a:solidFill>
          </c:spPr>
          <c:cat>
            <c:strRef>
              <c:f>Sheet1!$A$2:$A$11</c:f>
              <c:strCache>
                <c:ptCount val="10"/>
                <c:pt idx="0">
                  <c:v>Aadhaar</c:v>
                </c:pt>
                <c:pt idx="1">
                  <c:v>PAN</c:v>
                </c:pt>
                <c:pt idx="2">
                  <c:v>Mobile</c:v>
                </c:pt>
                <c:pt idx="3">
                  <c:v>IFSC</c:v>
                </c:pt>
                <c:pt idx="4">
                  <c:v>UPI</c:v>
                </c:pt>
                <c:pt idx="5">
                  <c:v>Email</c:v>
                </c:pt>
                <c:pt idx="6">
                  <c:v>Card</c:v>
                </c:pt>
                <c:pt idx="7">
                  <c:v>DOB</c:v>
                </c:pt>
                <c:pt idx="8">
                  <c:v>₹ Salary</c:v>
                </c:pt>
                <c:pt idx="9">
                  <c:v>Person</c:v>
                </c:pt>
              </c:strCache>
            </c:strRef>
          </c:cat>
          <c:val>
            <c:numRef>
              <c:f>Sheet1!$B$2:$B$11</c:f>
              <c:numCache>
                <c:formatCode>General</c:formatCode>
                <c:ptCount val="10"/>
                <c:pt idx="0">
                  <c:v>100.0</c:v>
                </c:pt>
                <c:pt idx="1">
                  <c:v>66.67</c:v>
                </c:pt>
                <c:pt idx="2">
                  <c:v>80.0</c:v>
                </c:pt>
                <c:pt idx="3">
                  <c:v>100.0</c:v>
                </c:pt>
                <c:pt idx="4">
                  <c:v>100.0</c:v>
                </c:pt>
                <c:pt idx="5">
                  <c:v>100.0</c:v>
                </c:pt>
                <c:pt idx="6">
                  <c:v>100.0</c:v>
                </c:pt>
                <c:pt idx="7">
                  <c:v>66.67</c:v>
                </c:pt>
                <c:pt idx="8">
                  <c:v>75.0</c:v>
                </c:pt>
                <c:pt idx="9">
                  <c:v>87.5</c:v>
                </c:pt>
              </c:numCache>
            </c:numRef>
          </c:val>
        </c:ser>
        <c:ser>
          <c:idx val="1"/>
          <c:order val="1"/>
          <c:tx>
            <c:strRef>
              <c:f>Sheet1!$C$1</c:f>
              <c:strCache>
                <c:ptCount val="1"/>
                <c:pt idx="0">
                  <c:v>Presidio (as shipped)</c:v>
                </c:pt>
              </c:strCache>
            </c:strRef>
          </c:tx>
          <c:spPr>
            <a:solidFill>
              <a:srgbClr val="C0822E"/>
            </a:solidFill>
          </c:spPr>
          <c:cat>
            <c:strRef>
              <c:f>Sheet1!$A$2:$A$11</c:f>
              <c:strCache>
                <c:ptCount val="10"/>
                <c:pt idx="0">
                  <c:v>Aadhaar</c:v>
                </c:pt>
                <c:pt idx="1">
                  <c:v>PAN</c:v>
                </c:pt>
                <c:pt idx="2">
                  <c:v>Mobile</c:v>
                </c:pt>
                <c:pt idx="3">
                  <c:v>IFSC</c:v>
                </c:pt>
                <c:pt idx="4">
                  <c:v>UPI</c:v>
                </c:pt>
                <c:pt idx="5">
                  <c:v>Email</c:v>
                </c:pt>
                <c:pt idx="6">
                  <c:v>Card</c:v>
                </c:pt>
                <c:pt idx="7">
                  <c:v>DOB</c:v>
                </c:pt>
                <c:pt idx="8">
                  <c:v>₹ Salary</c:v>
                </c:pt>
                <c:pt idx="9">
                  <c:v>Person</c:v>
                </c:pt>
              </c:strCache>
            </c:strRef>
          </c:cat>
          <c:val>
            <c:numRef>
              <c:f>Sheet1!$C$2:$C$11</c:f>
              <c:numCache>
                <c:formatCode>General</c:formatCode>
                <c:ptCount val="10"/>
                <c:pt idx="0">
                  <c:v>0</c:v>
                </c:pt>
                <c:pt idx="1">
                  <c:v>0</c:v>
                </c:pt>
                <c:pt idx="2">
                  <c:v>100.0</c:v>
                </c:pt>
                <c:pt idx="3">
                  <c:v>0</c:v>
                </c:pt>
                <c:pt idx="4">
                  <c:v>0</c:v>
                </c:pt>
                <c:pt idx="5">
                  <c:v>100.0</c:v>
                </c:pt>
                <c:pt idx="6">
                  <c:v>100.0</c:v>
                </c:pt>
                <c:pt idx="7">
                  <c:v>100.0</c:v>
                </c:pt>
                <c:pt idx="8">
                  <c:v>0</c:v>
                </c:pt>
                <c:pt idx="9">
                  <c:v>87.5</c:v>
                </c:pt>
              </c:numCache>
            </c:numRef>
          </c:val>
        </c:ser>
        <c:ser>
          <c:idx val="2"/>
          <c:order val="2"/>
          <c:tx>
            <c:strRef>
              <c:f>Sheet1!$D$1</c:f>
              <c:strCache>
                <c:ptCount val="1"/>
                <c:pt idx="0">
                  <c:v>Presidio + India recognizers</c:v>
                </c:pt>
              </c:strCache>
            </c:strRef>
          </c:tx>
          <c:spPr>
            <a:solidFill>
              <a:srgbClr val="4F67B0"/>
            </a:solidFill>
          </c:spPr>
          <c:cat>
            <c:strRef>
              <c:f>Sheet1!$A$2:$A$11</c:f>
              <c:strCache>
                <c:ptCount val="10"/>
                <c:pt idx="0">
                  <c:v>Aadhaar</c:v>
                </c:pt>
                <c:pt idx="1">
                  <c:v>PAN</c:v>
                </c:pt>
                <c:pt idx="2">
                  <c:v>Mobile</c:v>
                </c:pt>
                <c:pt idx="3">
                  <c:v>IFSC</c:v>
                </c:pt>
                <c:pt idx="4">
                  <c:v>UPI</c:v>
                </c:pt>
                <c:pt idx="5">
                  <c:v>Email</c:v>
                </c:pt>
                <c:pt idx="6">
                  <c:v>Card</c:v>
                </c:pt>
                <c:pt idx="7">
                  <c:v>DOB</c:v>
                </c:pt>
                <c:pt idx="8">
                  <c:v>₹ Salary</c:v>
                </c:pt>
                <c:pt idx="9">
                  <c:v>Person</c:v>
                </c:pt>
              </c:strCache>
            </c:strRef>
          </c:cat>
          <c:val>
            <c:numRef>
              <c:f>Sheet1!$D$2:$D$11</c:f>
              <c:numCache>
                <c:formatCode>General</c:formatCode>
                <c:ptCount val="10"/>
                <c:pt idx="0">
                  <c:v>100.0</c:v>
                </c:pt>
                <c:pt idx="1">
                  <c:v>100.0</c:v>
                </c:pt>
                <c:pt idx="2">
                  <c:v>100.0</c:v>
                </c:pt>
                <c:pt idx="3">
                  <c:v>0</c:v>
                </c:pt>
                <c:pt idx="4">
                  <c:v>0</c:v>
                </c:pt>
                <c:pt idx="5">
                  <c:v>100.0</c:v>
                </c:pt>
                <c:pt idx="6">
                  <c:v>100.0</c:v>
                </c:pt>
                <c:pt idx="7">
                  <c:v>100.0</c:v>
                </c:pt>
                <c:pt idx="8">
                  <c:v>0</c:v>
                </c:pt>
                <c:pt idx="9">
                  <c:v>87.5</c:v>
                </c:pt>
              </c:numCache>
            </c:numRef>
          </c:val>
        </c:ser>
        <c:gapWidth val="70"/>
        <c:overlap val="-8"/>
        <c:axId val="-2068027336"/>
        <c:axId val="-2113994440"/>
      </c:barChart>
      <c:catAx>
        <c:axId val="-2068027336"/>
        <c:scaling>
          <c:orientation val="minMax"/>
        </c:scaling>
        <c:delete val="0"/>
        <c:axPos val="b"/>
        <c:majorTickMark val="out"/>
        <c:minorTickMark val="none"/>
        <c:tickLblPos val="nextTo"/>
        <c:spPr>
          <a:ln>
            <a:solidFill>
              <a:srgbClr val="C7C8C7"/>
            </a:solidFill>
          </a:ln>
        </c:spPr>
        <c:txPr>
          <a:bodyPr/>
          <a:lstStyle/>
          <a:p>
            <a:pPr>
              <a:defRPr sz="950"/>
            </a:pPr>
          </a:p>
        </c:txPr>
        <c:crossAx val="-2113994440"/>
        <c:crosses val="autoZero"/>
        <c:auto val="1"/>
        <c:lblAlgn val="ctr"/>
        <c:lblOffset val="100"/>
        <c:noMultiLvlLbl val="0"/>
      </c:catAx>
      <c:valAx>
        <c:axId val="-2113994440"/>
        <c:scaling>
          <c:max val="100.0"/>
          <c:min val="0.0"/>
        </c:scaling>
        <c:delete val="0"/>
        <c:axPos val="l"/>
        <c:majorGridlines>
          <c:spPr>
            <a:ln>
              <a:solidFill>
                <a:srgbClr val="E3E1D9"/>
              </a:solidFill>
            </a:ln>
          </c:spPr>
        </c:majorGridlines>
        <c:numFmt formatCode="0&quot;%&quot;" sourceLinked="0"/>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1000"/>
          </a:pPr>
        </a:p>
      </c:txPr>
    </c:legend>
    <c:dispBlanksAs val="gap"/>
  </c:chart>
  <c:txPr>
    <a:bodyPr/>
    <a:lstStyle/>
    <a:p>
      <a:pPr>
        <a:defRPr sz="1000">
          <a:latin typeface="IBM Plex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Heuristic</c:v>
                </c:pt>
              </c:strCache>
            </c:strRef>
          </c:tx>
          <c:spPr>
            <a:solidFill>
              <a:srgbClr val="C0822E"/>
            </a:solidFill>
          </c:spPr>
          <c:cat>
            <c:strRef>
              <c:f>Sheet1!$A$2:$A$8</c:f>
              <c:strCache>
                <c:ptCount val="7"/>
                <c:pt idx="0">
                  <c:v>Direct</c:v>
                </c:pt>
                <c:pt idx="1">
                  <c:v>Roleplay</c:v>
                </c:pt>
                <c:pt idx="2">
                  <c:v>Exfiltration</c:v>
                </c:pt>
                <c:pt idx="3">
                  <c:v>Obfuscated</c:v>
                </c:pt>
                <c:pt idx="4">
                  <c:v>Paraphrased</c:v>
                </c:pt>
                <c:pt idx="5">
                  <c:v>Hindi</c:v>
                </c:pt>
                <c:pt idx="6">
                  <c:v>All 24</c:v>
                </c:pt>
              </c:strCache>
            </c:strRef>
          </c:cat>
          <c:val>
            <c:numRef>
              <c:f>Sheet1!$B$2:$B$8</c:f>
              <c:numCache>
                <c:formatCode>General</c:formatCode>
                <c:ptCount val="7"/>
                <c:pt idx="0">
                  <c:v>50.0</c:v>
                </c:pt>
                <c:pt idx="1">
                  <c:v>50.0</c:v>
                </c:pt>
                <c:pt idx="2">
                  <c:v>25.0</c:v>
                </c:pt>
                <c:pt idx="3">
                  <c:v>75.0</c:v>
                </c:pt>
                <c:pt idx="4">
                  <c:v>0</c:v>
                </c:pt>
                <c:pt idx="5">
                  <c:v>0</c:v>
                </c:pt>
                <c:pt idx="6">
                  <c:v>33.33</c:v>
                </c:pt>
              </c:numCache>
            </c:numRef>
          </c:val>
        </c:ser>
        <c:ser>
          <c:idx val="1"/>
          <c:order val="1"/>
          <c:tx>
            <c:strRef>
              <c:f>Sheet1!$C$1</c:f>
              <c:strCache>
                <c:ptCount val="1"/>
                <c:pt idx="0">
                  <c:v>LLM judge</c:v>
                </c:pt>
              </c:strCache>
            </c:strRef>
          </c:tx>
          <c:spPr>
            <a:solidFill>
              <a:srgbClr val="4F67B0"/>
            </a:solidFill>
          </c:spPr>
          <c:cat>
            <c:strRef>
              <c:f>Sheet1!$A$2:$A$8</c:f>
              <c:strCache>
                <c:ptCount val="7"/>
                <c:pt idx="0">
                  <c:v>Direct</c:v>
                </c:pt>
                <c:pt idx="1">
                  <c:v>Roleplay</c:v>
                </c:pt>
                <c:pt idx="2">
                  <c:v>Exfiltration</c:v>
                </c:pt>
                <c:pt idx="3">
                  <c:v>Obfuscated</c:v>
                </c:pt>
                <c:pt idx="4">
                  <c:v>Paraphrased</c:v>
                </c:pt>
                <c:pt idx="5">
                  <c:v>Hindi</c:v>
                </c:pt>
                <c:pt idx="6">
                  <c:v>All 24</c:v>
                </c:pt>
              </c:strCache>
            </c:strRef>
          </c:cat>
          <c:val>
            <c:numRef>
              <c:f>Sheet1!$C$2:$C$8</c:f>
              <c:numCache>
                <c:formatCode>General</c:formatCode>
                <c:ptCount val="7"/>
                <c:pt idx="0">
                  <c:v>100.0</c:v>
                </c:pt>
                <c:pt idx="1">
                  <c:v>100.0</c:v>
                </c:pt>
                <c:pt idx="2">
                  <c:v>100.0</c:v>
                </c:pt>
                <c:pt idx="3">
                  <c:v>100.0</c:v>
                </c:pt>
                <c:pt idx="4">
                  <c:v>100.0</c:v>
                </c:pt>
                <c:pt idx="5">
                  <c:v>100.0</c:v>
                </c:pt>
                <c:pt idx="6">
                  <c:v>100.0</c:v>
                </c:pt>
              </c:numCache>
            </c:numRef>
          </c:val>
        </c:ser>
        <c:ser>
          <c:idx val="2"/>
          <c:order val="2"/>
          <c:tx>
            <c:strRef>
              <c:f>Sheet1!$D$1</c:f>
              <c:strCache>
                <c:ptCount val="1"/>
                <c:pt idx="0">
                  <c:v>Combined (ours)</c:v>
                </c:pt>
              </c:strCache>
            </c:strRef>
          </c:tx>
          <c:spPr>
            <a:solidFill>
              <a:srgbClr val="1F8A70"/>
            </a:solidFill>
          </c:spPr>
          <c:cat>
            <c:strRef>
              <c:f>Sheet1!$A$2:$A$8</c:f>
              <c:strCache>
                <c:ptCount val="7"/>
                <c:pt idx="0">
                  <c:v>Direct</c:v>
                </c:pt>
                <c:pt idx="1">
                  <c:v>Roleplay</c:v>
                </c:pt>
                <c:pt idx="2">
                  <c:v>Exfiltration</c:v>
                </c:pt>
                <c:pt idx="3">
                  <c:v>Obfuscated</c:v>
                </c:pt>
                <c:pt idx="4">
                  <c:v>Paraphrased</c:v>
                </c:pt>
                <c:pt idx="5">
                  <c:v>Hindi</c:v>
                </c:pt>
                <c:pt idx="6">
                  <c:v>All 24</c:v>
                </c:pt>
              </c:strCache>
            </c:strRef>
          </c:cat>
          <c:val>
            <c:numRef>
              <c:f>Sheet1!$D$2:$D$8</c:f>
              <c:numCache>
                <c:formatCode>General</c:formatCode>
                <c:ptCount val="7"/>
                <c:pt idx="0">
                  <c:v>100.0</c:v>
                </c:pt>
                <c:pt idx="1">
                  <c:v>100.0</c:v>
                </c:pt>
                <c:pt idx="2">
                  <c:v>100.0</c:v>
                </c:pt>
                <c:pt idx="3">
                  <c:v>100.0</c:v>
                </c:pt>
                <c:pt idx="4">
                  <c:v>100.0</c:v>
                </c:pt>
                <c:pt idx="5">
                  <c:v>100.0</c:v>
                </c:pt>
                <c:pt idx="6">
                  <c:v>100.0</c:v>
                </c:pt>
              </c:numCache>
            </c:numRef>
          </c:val>
        </c:ser>
        <c:ser>
          <c:idx val="3"/>
          <c:order val="3"/>
          <c:tx>
            <c:strRef>
              <c:f>Sheet1!$E$1</c:f>
              <c:strCache>
                <c:ptCount val="1"/>
                <c:pt idx="0">
                  <c:v>Prompt Guard 2 (Meta)</c:v>
                </c:pt>
              </c:strCache>
            </c:strRef>
          </c:tx>
          <c:spPr>
            <a:solidFill>
              <a:srgbClr val="A0466E"/>
            </a:solidFill>
          </c:spPr>
          <c:cat>
            <c:strRef>
              <c:f>Sheet1!$A$2:$A$8</c:f>
              <c:strCache>
                <c:ptCount val="7"/>
                <c:pt idx="0">
                  <c:v>Direct</c:v>
                </c:pt>
                <c:pt idx="1">
                  <c:v>Roleplay</c:v>
                </c:pt>
                <c:pt idx="2">
                  <c:v>Exfiltration</c:v>
                </c:pt>
                <c:pt idx="3">
                  <c:v>Obfuscated</c:v>
                </c:pt>
                <c:pt idx="4">
                  <c:v>Paraphrased</c:v>
                </c:pt>
                <c:pt idx="5">
                  <c:v>Hindi</c:v>
                </c:pt>
                <c:pt idx="6">
                  <c:v>All 24</c:v>
                </c:pt>
              </c:strCache>
            </c:strRef>
          </c:cat>
          <c:val>
            <c:numRef>
              <c:f>Sheet1!$E$2:$E$8</c:f>
              <c:numCache>
                <c:formatCode>General</c:formatCode>
                <c:ptCount val="7"/>
                <c:pt idx="0">
                  <c:v>75.0</c:v>
                </c:pt>
                <c:pt idx="1">
                  <c:v>50.0</c:v>
                </c:pt>
                <c:pt idx="2">
                  <c:v>0</c:v>
                </c:pt>
                <c:pt idx="3">
                  <c:v>25.0</c:v>
                </c:pt>
                <c:pt idx="4">
                  <c:v>50.0</c:v>
                </c:pt>
                <c:pt idx="5">
                  <c:v>0</c:v>
                </c:pt>
                <c:pt idx="6">
                  <c:v>33.33</c:v>
                </c:pt>
              </c:numCache>
            </c:numRef>
          </c:val>
        </c:ser>
        <c:gapWidth val="70"/>
        <c:overlap val="-8"/>
        <c:axId val="-2068027336"/>
        <c:axId val="-2113994440"/>
      </c:barChart>
      <c:catAx>
        <c:axId val="-2068027336"/>
        <c:scaling>
          <c:orientation val="minMax"/>
        </c:scaling>
        <c:delete val="0"/>
        <c:axPos val="b"/>
        <c:majorTickMark val="out"/>
        <c:minorTickMark val="none"/>
        <c:tickLblPos val="nextTo"/>
        <c:spPr>
          <a:ln>
            <a:solidFill>
              <a:srgbClr val="C7C8C7"/>
            </a:solidFill>
          </a:ln>
        </c:spPr>
        <c:txPr>
          <a:bodyPr/>
          <a:lstStyle/>
          <a:p>
            <a:pPr>
              <a:defRPr sz="950"/>
            </a:pPr>
          </a:p>
        </c:txPr>
        <c:crossAx val="-2113994440"/>
        <c:crosses val="autoZero"/>
        <c:auto val="1"/>
        <c:lblAlgn val="ctr"/>
        <c:lblOffset val="100"/>
        <c:noMultiLvlLbl val="0"/>
      </c:catAx>
      <c:valAx>
        <c:axId val="-2113994440"/>
        <c:scaling>
          <c:max val="100.0"/>
          <c:min val="0.0"/>
        </c:scaling>
        <c:delete val="0"/>
        <c:axPos val="l"/>
        <c:majorGridlines>
          <c:spPr>
            <a:ln>
              <a:solidFill>
                <a:srgbClr val="E3E1D9"/>
              </a:solidFill>
            </a:ln>
          </c:spPr>
        </c:majorGridlines>
        <c:numFmt formatCode="0&quot;%&quot;" sourceLinked="0"/>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1000"/>
          </a:pPr>
        </a:p>
      </c:txPr>
    </c:legend>
    <c:dispBlanksAs val="gap"/>
  </c:chart>
  <c:txPr>
    <a:bodyPr/>
    <a:lstStyle/>
    <a:p>
      <a:pPr>
        <a:defRPr sz="1000">
          <a:latin typeface="IBM Plex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63E98AE-1B60-6A4E-9FD5-04107AA44C15}" type="datetimeFigureOut">
              <a:rPr lang="en-US" smtClean="0"/>
              <a:t>9/17/26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8FB14C0-88C8-044F-8DD8-EDAC27D1A224}" type="slidenum">
              <a:rPr lang="en-US" smtClean="0"/>
              <a:t>‹#›</a:t>
            </a:fld>
            <a:endParaRPr lang="en-US"/>
          </a:p>
        </p:txBody>
      </p:sp>
    </p:spTree>
    <p:extLst>
      <p:ext uri="{BB962C8B-B14F-4D97-AF65-F5344CB8AC3E}">
        <p14:creationId xmlns:p14="http://schemas.microsoft.com/office/powerpoint/2010/main" val="2019103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This is our final review of Copilot Privacy Guard — a DPDP-aligned privacy-guard middleware for retrieval-augmented enterprise assistants. In Review 3 we showed half of it; today every objective from Review 1 is delivered, measured, and compared against the defence families in the literature.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Copilot-style assistants are given broad read access so they can answer questions in natural language. Industry audits put already-over-shared files at fifteen to sixteen percent. DLP and RBAC operate on whole documents and static roles — they can't see one conversational answer stitched together from many documents across departments. There's no deployable middleware evaluated against DPDP. That's the gap we're building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controls on every prompt and every retrieved document. Documents are redacted before they are indexed, so the vector store never holds raw PII. Then the purpose filter and injection screening — now a heuristic plus an LLM judge — run on the candidates, PII redaction runs again on what survives, and only then does the LLM see anything. Every decision is hash-chained into the audit log.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controls in detail. Redaction now also protects the index itself. Injection screening gained an LLM judge, which catches paraphrased and Hindi payloads that patterns miss — you'll see the numbers in a moment.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stack, extended: twelve configurations of one pipeline, a dense retriever, a real LLM judge on Groq, and two industry tools — Presidio and Meta's Prompt Guard 2 — as comparators. All LLM responses are cached and committed, so every number on these slides reproduces offline.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objective from Review 1 is now delivered: incidents, the DPIA register, the clause mapping and the assurance checklist joined the prototype and the evaluation. The literature grew from 14 to 32 verified papers.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retriever, same LLM. PII sent to the provider drops from 100% to zero, over-sharing from 50.9% to zero, raw PII in the index and poisoned chunks reaching the model both to zero. The honest part is the last two rows: answer-quality retention falls to 34.9% and each uncached judge call takes about 553 ms. Note the LLM itself obeyed almost no canaries — model resistance isn't something the deployer controls, so we design for zero exposure instead.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things nobody in our 32-paper survey does together: purpose-aware access as a runtime DPDP rule; India-first PII detection that we measured against Presidio rather than asserted; and a full pipeline measured against the alternatives, with compliance evidence generated from the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We'd rather say these ourselves. The guard costs utility and latency, and we report the failing check instead of hiding it. The corpus is synthetic. Access is tag-based. And because the model refused most canaries on its own, we lean on the exposure metric — the guard makes injection safety independent of model behaviour.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steps follow directly from the limitations: let the judge decide alone, give authorised users their real values back without the model ever seeing them, widen the recognizers, add egress control, and plug into a real identity provider. Thank you — we're happy to take questions or open the live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comparative positioning. Every defence in the literature covers one column: decoding noise, delimiting, content classifiers, PII redaction, embedding noise. None knows who is asking or why, none protects the index, audits decisions and is measured end to end — and none is mapped to India's DPDP Act. That is the gap we fill.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compare fairly we made every defence a configuration of the same pipeline, so the corpus, the retriever and the LLM are identical and only the defence changes. Injection queries are issued by a persona who is allowed to read the poisoned document — otherwise access control would block them and we'd be measuring the wrong control.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table by columns. Copilot-style RBAC fixes most over-sharing but sends half the PII to the model provider. Redaction-only fixes the provider exposure but not over-sharing. Output filtering looks clean in the answer while the provider still receives everything — under DPDP section 8(1) the fiduciary is responsible for that. Every single-family defence leaves at least one exposure open; ours closes all four, and the right-hand columns show what that costs.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Remove one control at a time and exactly one exposure comes back — the controls don't overlap, they compose. The judge doesn't change these corpus metrics because our seeded payloads are also caught by patterns; its value is on paraphrased and Hindi attacks, which is the next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Review 3 we said Presidio was US-centric. We checked: it does ship Aadhaar and PAN recognizers, just disabled. So we measured instead of asserting. On held-out sentences our F1 is 89.5% against 54.3% for Presidio as shipped. Presidio is better on spaced mobile numbers and written-out dates — those are our gaps, and they're in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Patterns catch explicit and encoded attacks but none of the paraphrased or Hindi ones, and they flag security reminders as attacks. The LLM judge caught all 24 with no false positives. Meta's dedicated Prompt Guard model caught a third — it's strong on explicit overrides but blind to exfiltration and Hindi. One design lesson: OR-ing the heuristic in inherits its false positives, so the judge should make the final call — that's future work item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isn't a slide of logos here — it's code. Every clause from the DPDP Act, the DPDP Rules 2025, GDPR, the EU AI Act and OWASP points at a measured number. The DPIA residual scores cite the metric that justifies them, and the checklist runs against the live system: 12 of 13 pass. The one that fails is utility, A12 — we kept it failing rather than lower the bar.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O4. Replaying three real incidents against our controls: none is fully stopped by one control, which is the argument for layering.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reported by other papers next to ours. Different data, models and attacks — this is context, not a head-to-head; the head-to-head is the comparative study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order if time allows.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a:effectLst/>
      </p:bgPr>
    </p:bg>
    <p:spTree>
      <p:nvGrpSpPr>
        <p:cNvPr id="1" name=""/>
        <p:cNvGrpSpPr/>
        <p:nvPr/>
      </p:nvGrpSpPr>
      <p:grpSpPr>
        <a:xfrm>
          <a:off x="0" y="0"/>
          <a:ext cx="0" cy="0"/>
          <a:chOff x="0" y="0"/>
          <a:chExt cx="0" cy="0"/>
        </a:xfrm>
      </p:grpSpPr>
      <p:sp>
        <p:nvSpPr>
          <p:cNvPr id="2" name="Text 0"/>
          <p:cNvSpPr/>
          <p:nvPr/>
        </p:nvSpPr>
        <p:spPr>
          <a:xfrm>
            <a:off x="812800" y="2371725"/>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FA593"/>
                </a:solidFill>
                <a:latin typeface="IBM Plex Mono" pitchFamily="34" charset="0"/>
                <a:ea typeface="IBM Plex Mono" pitchFamily="34" charset="-122"/>
                <a:cs typeface="IBM Plex Mono" pitchFamily="34" charset="-120"/>
              </a:rPr>
              <a:t>BCSE318L DATA PRIVACY · VIT VELLORE · FINAL REVIEW</a:t>
            </a:r>
            <a:endParaRPr lang="en-US" sz="1200" dirty="0"/>
          </a:p>
        </p:txBody>
      </p:sp>
      <p:sp>
        <p:nvSpPr>
          <p:cNvPr id="3" name="Text 1"/>
          <p:cNvSpPr/>
          <p:nvPr/>
        </p:nvSpPr>
        <p:spPr>
          <a:xfrm>
            <a:off x="812800" y="2809875"/>
            <a:ext cx="10464800" cy="876300"/>
          </a:xfrm>
          <a:prstGeom prst="rect">
            <a:avLst/>
          </a:prstGeom>
          <a:noFill/>
          <a:ln/>
        </p:spPr>
        <p:txBody>
          <a:bodyPr wrap="square" lIns="0" tIns="0" rIns="0" bIns="0" rtlCol="0" anchor="t">
            <a:normAutofit/>
          </a:bodyPr>
          <a:lstStyle/>
          <a:p>
            <a:pPr marL="0" indent="0" algn="l">
              <a:lnSpc>
                <a:spcPts val="6720"/>
              </a:lnSpc>
              <a:buNone/>
            </a:pPr>
            <a:r>
              <a:rPr lang="en-US" sz="6400" b="1" dirty="0">
                <a:solidFill>
                  <a:srgbClr val="FAFAF8"/>
                </a:solidFill>
                <a:latin typeface="Space Grotesk" pitchFamily="34" charset="0"/>
                <a:ea typeface="Space Grotesk" pitchFamily="34" charset="-122"/>
                <a:cs typeface="Space Grotesk" pitchFamily="34" charset="-120"/>
              </a:rPr>
              <a:t>Copilot Privacy Guard</a:t>
            </a:r>
            <a:endParaRPr lang="en-US" sz="6400" dirty="0"/>
          </a:p>
        </p:txBody>
      </p:sp>
      <p:sp>
        <p:nvSpPr>
          <p:cNvPr id="4" name="Text 2"/>
          <p:cNvSpPr/>
          <p:nvPr/>
        </p:nvSpPr>
        <p:spPr>
          <a:xfrm>
            <a:off x="812800" y="3889375"/>
            <a:ext cx="8175625" cy="62230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7CDCB"/>
                </a:solidFill>
                <a:latin typeface="IBM Plex Sans" pitchFamily="34" charset="0"/>
                <a:ea typeface="IBM Plex Sans" pitchFamily="34" charset="-122"/>
                <a:cs typeface="IBM Plex Sans" pitchFamily="34" charset="-120"/>
              </a:rPr>
              <a:t>A DPDP-aligned privacy-guard middleware for retrieval-augmented enterprise LLM assistants</a:t>
            </a:r>
            <a:endParaRPr lang="en-US" sz="1700" dirty="0"/>
          </a:p>
        </p:txBody>
      </p:sp>
      <p:sp>
        <p:nvSpPr>
          <p:cNvPr id="5" name="Text 3"/>
          <p:cNvSpPr/>
          <p:nvPr/>
        </p:nvSpPr>
        <p:spPr>
          <a:xfrm>
            <a:off x="812800" y="6242050"/>
            <a:ext cx="19846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Aditya Sharma · Aarav Raina</a:t>
            </a:r>
            <a:endParaRPr lang="en-US" sz="1200" dirty="0"/>
          </a:p>
        </p:txBody>
      </p:sp>
      <p:sp>
        <p:nvSpPr>
          <p:cNvPr id="6" name="Text 4"/>
          <p:cNvSpPr/>
          <p:nvPr/>
        </p:nvSpPr>
        <p:spPr>
          <a:xfrm>
            <a:off x="7630120" y="6242050"/>
            <a:ext cx="3861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Mono" pitchFamily="34" charset="0"/>
                <a:ea typeface="IBM Plex Mono" pitchFamily="34" charset="-122"/>
                <a:cs typeface="IBM Plex Mono" pitchFamily="34" charset="-120"/>
              </a:rPr>
              <a:t>github.com/Adi07289/copilot-privacy-guard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95250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The problem: broad access, narrow accountability</a:t>
            </a:r>
            <a:endParaRPr lang="en-US" sz="3200" dirty="0"/>
          </a:p>
        </p:txBody>
      </p:sp>
      <p:sp>
        <p:nvSpPr>
          <p:cNvPr id="3" name="Shape 1"/>
          <p:cNvSpPr/>
          <p:nvPr/>
        </p:nvSpPr>
        <p:spPr>
          <a:xfrm>
            <a:off x="812800" y="2044700"/>
            <a:ext cx="2921000" cy="3797300"/>
          </a:xfrm>
          <a:prstGeom prst="roundRect">
            <a:avLst>
              <a:gd name="adj" fmla="val 5217"/>
            </a:avLst>
          </a:prstGeom>
          <a:solidFill>
            <a:srgbClr val="E4EEEA"/>
          </a:solidFill>
          <a:ln/>
        </p:spPr>
      </p:sp>
      <p:sp>
        <p:nvSpPr>
          <p:cNvPr id="4" name="Text 2"/>
          <p:cNvSpPr/>
          <p:nvPr/>
        </p:nvSpPr>
        <p:spPr>
          <a:xfrm>
            <a:off x="1117600" y="2838450"/>
            <a:ext cx="2380742" cy="1422400"/>
          </a:xfrm>
          <a:prstGeom prst="rect">
            <a:avLst/>
          </a:prstGeom>
          <a:noFill/>
          <a:ln/>
        </p:spPr>
        <p:txBody>
          <a:bodyPr wrap="square" lIns="0" tIns="0" rIns="0" bIns="0" rtlCol="0" anchor="t">
            <a:normAutofit/>
          </a:bodyPr>
          <a:lstStyle/>
          <a:p>
            <a:pPr marL="0" indent="0" algn="l">
              <a:lnSpc>
                <a:spcPts val="5500"/>
              </a:lnSpc>
              <a:buNone/>
            </a:pPr>
            <a:r>
              <a:rPr lang="en-US" sz="5500" b="1" dirty="0">
                <a:solidFill>
                  <a:srgbClr val="2F6F5E"/>
                </a:solidFill>
                <a:latin typeface="IBM Plex Mono" pitchFamily="34" charset="0"/>
                <a:ea typeface="IBM Plex Mono" pitchFamily="34" charset="-122"/>
                <a:cs typeface="IBM Plex Mono" pitchFamily="34" charset="-120"/>
              </a:rPr>
              <a:t>15–16%</a:t>
            </a:r>
            <a:endParaRPr lang="en-US" sz="5500" dirty="0"/>
          </a:p>
        </p:txBody>
      </p:sp>
      <p:sp>
        <p:nvSpPr>
          <p:cNvPr id="5" name="Text 3"/>
          <p:cNvSpPr/>
          <p:nvPr/>
        </p:nvSpPr>
        <p:spPr>
          <a:xfrm>
            <a:off x="1117600" y="4362450"/>
            <a:ext cx="2380742"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F6F5E"/>
                </a:solidFill>
                <a:latin typeface="IBM Plex Sans" pitchFamily="34" charset="0"/>
                <a:ea typeface="IBM Plex Sans" pitchFamily="34" charset="-122"/>
                <a:cs typeface="IBM Plex Sans" pitchFamily="34" charset="-120"/>
              </a:rPr>
              <a:t>of business-critical files are already over-shared, industry-wide</a:t>
            </a:r>
            <a:endParaRPr lang="en-US" sz="1300" dirty="0"/>
          </a:p>
        </p:txBody>
      </p:sp>
      <p:sp>
        <p:nvSpPr>
          <p:cNvPr id="6" name="Text 4"/>
          <p:cNvSpPr/>
          <p:nvPr/>
        </p:nvSpPr>
        <p:spPr>
          <a:xfrm>
            <a:off x="4038600" y="2794000"/>
            <a:ext cx="7560818" cy="132080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14171A"/>
                </a:solidFill>
                <a:latin typeface="IBM Plex Sans" pitchFamily="34" charset="0"/>
                <a:ea typeface="IBM Plex Sans" pitchFamily="34" charset="-122"/>
                <a:cs typeface="IBM Plex Sans" pitchFamily="34" charset="-120"/>
              </a:rPr>
              <a:t>Enterprise assistants like M365 Copilot get broad read access across email, HR, tickets and code so they can answer in natural language. Copilot doesn't create these exposures — it makes every one of them discoverable with a single sentence.</a:t>
            </a:r>
            <a:endParaRPr lang="en-US" sz="1700" dirty="0"/>
          </a:p>
        </p:txBody>
      </p:sp>
      <p:sp>
        <p:nvSpPr>
          <p:cNvPr id="7" name="Text 5"/>
          <p:cNvSpPr/>
          <p:nvPr/>
        </p:nvSpPr>
        <p:spPr>
          <a:xfrm>
            <a:off x="4038600" y="4292600"/>
            <a:ext cx="7560818"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8"/>
                </a:solidFill>
                <a:latin typeface="IBM Plex Sans" pitchFamily="34" charset="0"/>
                <a:ea typeface="IBM Plex Sans" pitchFamily="34" charset="-122"/>
                <a:cs typeface="IBM Plex Sans" pitchFamily="34" charset="-120"/>
              </a:rPr>
              <a:t>DLP and RBAC work on whole documents and static roles. They can't see one answer stitched together from twelve documents across four departments — and no deployable middleware has been evaluated against India's DPDP Act 2023.</a:t>
            </a:r>
            <a:endParaRPr lang="en-US" sz="1400" dirty="0"/>
          </a:p>
        </p:txBody>
      </p:sp>
      <p:sp>
        <p:nvSpPr>
          <p:cNvPr id="8" name="Text 6"/>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How it works: intercepted before the LLM ever sees it</a:t>
            </a:r>
            <a:endParaRPr lang="en-US" sz="3200" dirty="0"/>
          </a:p>
        </p:txBody>
      </p:sp>
      <p:sp>
        <p:nvSpPr>
          <p:cNvPr id="3" name="Shape 1"/>
          <p:cNvSpPr/>
          <p:nvPr/>
        </p:nvSpPr>
        <p:spPr>
          <a:xfrm>
            <a:off x="815975" y="1558925"/>
            <a:ext cx="1659930" cy="1041400"/>
          </a:xfrm>
          <a:prstGeom prst="roundRect">
            <a:avLst>
              <a:gd name="adj" fmla="val 11890"/>
            </a:avLst>
          </a:prstGeom>
          <a:solidFill>
            <a:srgbClr val="EFEDE6"/>
          </a:solidFill>
          <a:ln w="6350">
            <a:solidFill>
              <a:srgbClr val="E3E1D9"/>
            </a:solidFill>
            <a:prstDash val="solid"/>
          </a:ln>
        </p:spPr>
      </p:sp>
      <p:sp>
        <p:nvSpPr>
          <p:cNvPr id="4" name="Text 2"/>
          <p:cNvSpPr/>
          <p:nvPr/>
        </p:nvSpPr>
        <p:spPr>
          <a:xfrm>
            <a:off x="861695" y="184467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User prompt</a:t>
            </a:r>
            <a:endParaRPr lang="en-US" sz="1200" dirty="0"/>
          </a:p>
        </p:txBody>
      </p:sp>
      <p:sp>
        <p:nvSpPr>
          <p:cNvPr id="5" name="Text 3"/>
          <p:cNvSpPr/>
          <p:nvPr/>
        </p:nvSpPr>
        <p:spPr>
          <a:xfrm>
            <a:off x="861695" y="210502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raw query</a:t>
            </a:r>
            <a:endParaRPr lang="en-US" sz="1200" dirty="0"/>
          </a:p>
        </p:txBody>
      </p:sp>
      <p:pic>
        <p:nvPicPr>
          <p:cNvPr id="6" name="Image 0" descr="arrow-right"/>
          <p:cNvPicPr>
            <a:picLocks noChangeAspect="1"/>
          </p:cNvPicPr>
          <p:nvPr/>
        </p:nvPicPr>
        <p:blipFill>
          <a:blip r:embed="rId3"/>
          <a:srcRect/>
          <a:stretch/>
        </p:blipFill>
        <p:spPr>
          <a:xfrm>
            <a:off x="2606080" y="2003425"/>
            <a:ext cx="304800" cy="152400"/>
          </a:xfrm>
          <a:prstGeom prst="rect">
            <a:avLst/>
          </a:prstGeom>
        </p:spPr>
      </p:pic>
      <p:sp>
        <p:nvSpPr>
          <p:cNvPr id="7" name="Shape 4"/>
          <p:cNvSpPr/>
          <p:nvPr/>
        </p:nvSpPr>
        <p:spPr>
          <a:xfrm>
            <a:off x="3041055" y="1558925"/>
            <a:ext cx="1659930" cy="1041400"/>
          </a:xfrm>
          <a:prstGeom prst="roundRect">
            <a:avLst>
              <a:gd name="adj" fmla="val 11890"/>
            </a:avLst>
          </a:prstGeom>
          <a:solidFill>
            <a:srgbClr val="EFEDE6"/>
          </a:solidFill>
          <a:ln w="6350">
            <a:solidFill>
              <a:srgbClr val="E3E1D9"/>
            </a:solidFill>
            <a:prstDash val="solid"/>
          </a:ln>
        </p:spPr>
      </p:sp>
      <p:sp>
        <p:nvSpPr>
          <p:cNvPr id="8" name="Text 5"/>
          <p:cNvSpPr/>
          <p:nvPr/>
        </p:nvSpPr>
        <p:spPr>
          <a:xfrm>
            <a:off x="3086775" y="184467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F6F5E"/>
                </a:solidFill>
                <a:latin typeface="IBM Plex Sans" pitchFamily="34" charset="0"/>
                <a:ea typeface="IBM Plex Sans" pitchFamily="34" charset="-122"/>
                <a:cs typeface="IBM Plex Sans" pitchFamily="34" charset="-120"/>
              </a:rPr>
              <a:t>① PII redact</a:t>
            </a:r>
            <a:endParaRPr lang="en-US" sz="1200" dirty="0"/>
          </a:p>
        </p:txBody>
      </p:sp>
      <p:sp>
        <p:nvSpPr>
          <p:cNvPr id="9" name="Text 6"/>
          <p:cNvSpPr/>
          <p:nvPr/>
        </p:nvSpPr>
        <p:spPr>
          <a:xfrm>
            <a:off x="3086775" y="210502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scrub the prompt</a:t>
            </a:r>
            <a:endParaRPr lang="en-US" sz="1200" dirty="0"/>
          </a:p>
        </p:txBody>
      </p:sp>
      <p:pic>
        <p:nvPicPr>
          <p:cNvPr id="10" name="Image 1" descr="arrow-right"/>
          <p:cNvPicPr>
            <a:picLocks noChangeAspect="1"/>
          </p:cNvPicPr>
          <p:nvPr/>
        </p:nvPicPr>
        <p:blipFill>
          <a:blip r:embed="rId3"/>
          <a:srcRect/>
          <a:stretch/>
        </p:blipFill>
        <p:spPr>
          <a:xfrm>
            <a:off x="4831159" y="2003425"/>
            <a:ext cx="304800" cy="152400"/>
          </a:xfrm>
          <a:prstGeom prst="rect">
            <a:avLst/>
          </a:prstGeom>
        </p:spPr>
      </p:pic>
      <p:sp>
        <p:nvSpPr>
          <p:cNvPr id="11" name="Shape 7"/>
          <p:cNvSpPr/>
          <p:nvPr/>
        </p:nvSpPr>
        <p:spPr>
          <a:xfrm>
            <a:off x="5266134" y="1558925"/>
            <a:ext cx="1659930" cy="1041400"/>
          </a:xfrm>
          <a:prstGeom prst="roundRect">
            <a:avLst>
              <a:gd name="adj" fmla="val 11890"/>
            </a:avLst>
          </a:prstGeom>
          <a:solidFill>
            <a:srgbClr val="EFEDE6"/>
          </a:solidFill>
          <a:ln w="6350">
            <a:solidFill>
              <a:srgbClr val="E3E1D9"/>
            </a:solidFill>
            <a:prstDash val="solid"/>
          </a:ln>
        </p:spPr>
      </p:sp>
      <p:sp>
        <p:nvSpPr>
          <p:cNvPr id="12" name="Text 8"/>
          <p:cNvSpPr/>
          <p:nvPr/>
        </p:nvSpPr>
        <p:spPr>
          <a:xfrm>
            <a:off x="5311854" y="184467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Redacted index</a:t>
            </a:r>
            <a:endParaRPr lang="en-US" sz="1200" dirty="0"/>
          </a:p>
        </p:txBody>
      </p:sp>
      <p:sp>
        <p:nvSpPr>
          <p:cNvPr id="13" name="Text 9"/>
          <p:cNvSpPr/>
          <p:nvPr/>
        </p:nvSpPr>
        <p:spPr>
          <a:xfrm>
            <a:off x="5311854" y="2105025"/>
            <a:ext cx="1568490" cy="44450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② purpose · ③ judge</a:t>
            </a:r>
            <a:endParaRPr lang="en-US" sz="1200" dirty="0"/>
          </a:p>
        </p:txBody>
      </p:sp>
      <p:pic>
        <p:nvPicPr>
          <p:cNvPr id="14" name="Image 2" descr="arrow-right"/>
          <p:cNvPicPr>
            <a:picLocks noChangeAspect="1"/>
          </p:cNvPicPr>
          <p:nvPr/>
        </p:nvPicPr>
        <p:blipFill>
          <a:blip r:embed="rId3"/>
          <a:srcRect/>
          <a:stretch/>
        </p:blipFill>
        <p:spPr>
          <a:xfrm>
            <a:off x="7056239" y="2003425"/>
            <a:ext cx="304800" cy="152400"/>
          </a:xfrm>
          <a:prstGeom prst="rect">
            <a:avLst/>
          </a:prstGeom>
        </p:spPr>
      </p:pic>
      <p:sp>
        <p:nvSpPr>
          <p:cNvPr id="15" name="Shape 10"/>
          <p:cNvSpPr/>
          <p:nvPr/>
        </p:nvSpPr>
        <p:spPr>
          <a:xfrm>
            <a:off x="7491214" y="1558925"/>
            <a:ext cx="1659930" cy="1041400"/>
          </a:xfrm>
          <a:prstGeom prst="roundRect">
            <a:avLst>
              <a:gd name="adj" fmla="val 11890"/>
            </a:avLst>
          </a:prstGeom>
          <a:solidFill>
            <a:srgbClr val="EFEDE6"/>
          </a:solidFill>
          <a:ln w="6350">
            <a:solidFill>
              <a:srgbClr val="E3E1D9"/>
            </a:solidFill>
            <a:prstDash val="solid"/>
          </a:ln>
        </p:spPr>
      </p:sp>
      <p:sp>
        <p:nvSpPr>
          <p:cNvPr id="16" name="Text 11"/>
          <p:cNvSpPr/>
          <p:nvPr/>
        </p:nvSpPr>
        <p:spPr>
          <a:xfrm>
            <a:off x="7536934" y="184467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F6F5E"/>
                </a:solidFill>
                <a:latin typeface="IBM Plex Sans" pitchFamily="34" charset="0"/>
                <a:ea typeface="IBM Plex Sans" pitchFamily="34" charset="-122"/>
                <a:cs typeface="IBM Plex Sans" pitchFamily="34" charset="-120"/>
              </a:rPr>
              <a:t>① PII redact</a:t>
            </a:r>
            <a:endParaRPr lang="en-US" sz="1200" dirty="0"/>
          </a:p>
        </p:txBody>
      </p:sp>
      <p:sp>
        <p:nvSpPr>
          <p:cNvPr id="17" name="Text 12"/>
          <p:cNvSpPr/>
          <p:nvPr/>
        </p:nvSpPr>
        <p:spPr>
          <a:xfrm>
            <a:off x="7536934" y="210502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scrub the chunks</a:t>
            </a:r>
            <a:endParaRPr lang="en-US" sz="1200" dirty="0"/>
          </a:p>
        </p:txBody>
      </p:sp>
      <p:pic>
        <p:nvPicPr>
          <p:cNvPr id="18" name="Image 3" descr="arrow-right"/>
          <p:cNvPicPr>
            <a:picLocks noChangeAspect="1"/>
          </p:cNvPicPr>
          <p:nvPr/>
        </p:nvPicPr>
        <p:blipFill>
          <a:blip r:embed="rId3"/>
          <a:srcRect/>
          <a:stretch/>
        </p:blipFill>
        <p:spPr>
          <a:xfrm>
            <a:off x="9281319" y="2003425"/>
            <a:ext cx="304800" cy="152400"/>
          </a:xfrm>
          <a:prstGeom prst="rect">
            <a:avLst/>
          </a:prstGeom>
        </p:spPr>
      </p:pic>
      <p:sp>
        <p:nvSpPr>
          <p:cNvPr id="19" name="Shape 13"/>
          <p:cNvSpPr/>
          <p:nvPr/>
        </p:nvSpPr>
        <p:spPr>
          <a:xfrm>
            <a:off x="9716294" y="1558925"/>
            <a:ext cx="1659930" cy="1041400"/>
          </a:xfrm>
          <a:prstGeom prst="roundRect">
            <a:avLst>
              <a:gd name="adj" fmla="val 11890"/>
            </a:avLst>
          </a:prstGeom>
          <a:solidFill>
            <a:srgbClr val="EFEDE6"/>
          </a:solidFill>
          <a:ln w="6350">
            <a:solidFill>
              <a:srgbClr val="E3E1D9"/>
            </a:solidFill>
            <a:prstDash val="solid"/>
          </a:ln>
        </p:spPr>
      </p:sp>
      <p:sp>
        <p:nvSpPr>
          <p:cNvPr id="20" name="Text 14"/>
          <p:cNvSpPr/>
          <p:nvPr/>
        </p:nvSpPr>
        <p:spPr>
          <a:xfrm>
            <a:off x="9762014" y="184467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LLM → answer</a:t>
            </a:r>
            <a:endParaRPr lang="en-US" sz="1200" dirty="0"/>
          </a:p>
        </p:txBody>
      </p:sp>
      <p:sp>
        <p:nvSpPr>
          <p:cNvPr id="21" name="Text 15"/>
          <p:cNvSpPr/>
          <p:nvPr/>
        </p:nvSpPr>
        <p:spPr>
          <a:xfrm>
            <a:off x="9762014" y="2105025"/>
            <a:ext cx="1568490"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qwen3.8 · Groq</a:t>
            </a:r>
            <a:endParaRPr lang="en-US" sz="1200" dirty="0"/>
          </a:p>
        </p:txBody>
      </p:sp>
      <p:pic>
        <p:nvPicPr>
          <p:cNvPr id="22" name="Image 4" descr="arrow-down"/>
          <p:cNvPicPr>
            <a:picLocks noChangeAspect="1"/>
          </p:cNvPicPr>
          <p:nvPr/>
        </p:nvPicPr>
        <p:blipFill>
          <a:blip r:embed="rId4"/>
          <a:srcRect/>
          <a:stretch/>
        </p:blipFill>
        <p:spPr>
          <a:xfrm>
            <a:off x="6019800" y="2882900"/>
            <a:ext cx="152400" cy="203200"/>
          </a:xfrm>
          <a:prstGeom prst="rect">
            <a:avLst/>
          </a:prstGeom>
        </p:spPr>
      </p:pic>
      <p:sp>
        <p:nvSpPr>
          <p:cNvPr id="23" name="Shape 16"/>
          <p:cNvSpPr/>
          <p:nvPr/>
        </p:nvSpPr>
        <p:spPr>
          <a:xfrm>
            <a:off x="812800" y="3187700"/>
            <a:ext cx="10566400" cy="584200"/>
          </a:xfrm>
          <a:prstGeom prst="roundRect">
            <a:avLst>
              <a:gd name="adj" fmla="val 21739"/>
            </a:avLst>
          </a:prstGeom>
          <a:solidFill>
            <a:srgbClr val="2F6F5E"/>
          </a:solidFill>
          <a:ln/>
        </p:spPr>
      </p:sp>
      <p:pic>
        <p:nvPicPr>
          <p:cNvPr id="24" name="Image 5" descr="Lock"/>
          <p:cNvPicPr>
            <a:picLocks noChangeAspect="1"/>
          </p:cNvPicPr>
          <p:nvPr/>
        </p:nvPicPr>
        <p:blipFill>
          <a:blip r:embed="rId5"/>
          <a:srcRect/>
          <a:stretch/>
        </p:blipFill>
        <p:spPr>
          <a:xfrm>
            <a:off x="2099667" y="3378200"/>
            <a:ext cx="203200" cy="203200"/>
          </a:xfrm>
          <a:prstGeom prst="rect">
            <a:avLst/>
          </a:prstGeom>
        </p:spPr>
      </p:pic>
      <p:sp>
        <p:nvSpPr>
          <p:cNvPr id="25" name="Text 17"/>
          <p:cNvSpPr/>
          <p:nvPr/>
        </p:nvSpPr>
        <p:spPr>
          <a:xfrm>
            <a:off x="2404467" y="3365500"/>
            <a:ext cx="7918399"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AF8"/>
                </a:solidFill>
                <a:latin typeface="IBM Plex Sans" pitchFamily="34" charset="0"/>
                <a:ea typeface="IBM Plex Sans" pitchFamily="34" charset="-122"/>
                <a:cs typeface="IBM Plex Sans" pitchFamily="34" charset="-120"/>
              </a:rPr>
              <a:t>④ Every decision — every redaction, drop and flag — is appended to a SHA-256 hash-chained audit log</a:t>
            </a:r>
            <a:endParaRPr lang="en-US" sz="1300" dirty="0"/>
          </a:p>
        </p:txBody>
      </p:sp>
      <p:sp>
        <p:nvSpPr>
          <p:cNvPr id="26" name="Text 18"/>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The four controls</a:t>
            </a:r>
            <a:endParaRPr lang="en-US" sz="3200" dirty="0"/>
          </a:p>
        </p:txBody>
      </p:sp>
      <p:sp>
        <p:nvSpPr>
          <p:cNvPr id="3" name="Shape 1"/>
          <p:cNvSpPr/>
          <p:nvPr/>
        </p:nvSpPr>
        <p:spPr>
          <a:xfrm>
            <a:off x="812800" y="1530350"/>
            <a:ext cx="5194300" cy="2066925"/>
          </a:xfrm>
          <a:prstGeom prst="roundRect">
            <a:avLst>
              <a:gd name="adj" fmla="val 6144"/>
            </a:avLst>
          </a:prstGeom>
          <a:solidFill>
            <a:srgbClr val="EFEDE6"/>
          </a:solidFill>
          <a:ln/>
        </p:spPr>
      </p:sp>
      <p:sp>
        <p:nvSpPr>
          <p:cNvPr id="4" name="Text 2"/>
          <p:cNvSpPr/>
          <p:nvPr/>
        </p:nvSpPr>
        <p:spPr>
          <a:xfrm>
            <a:off x="1066800" y="1784350"/>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01 · PII DETECTION &amp; REDACTION</a:t>
            </a:r>
            <a:endParaRPr lang="en-US" sz="1200" dirty="0"/>
          </a:p>
        </p:txBody>
      </p:sp>
      <p:sp>
        <p:nvSpPr>
          <p:cNvPr id="5" name="Text 3"/>
          <p:cNvSpPr/>
          <p:nvPr/>
        </p:nvSpPr>
        <p:spPr>
          <a:xfrm>
            <a:off x="1066800" y="2082800"/>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India-first recognizers — Aadhaar (Verhoeff), PAN, mobile, IFSC, UPI, card (Luhn), ₹ salary — plus spaCy NER. Applied to the prompt, to every document before indexing, and to surviving chunks.</a:t>
            </a:r>
            <a:endParaRPr lang="en-US" sz="1350" dirty="0"/>
          </a:p>
        </p:txBody>
      </p:sp>
      <p:sp>
        <p:nvSpPr>
          <p:cNvPr id="6" name="Shape 4"/>
          <p:cNvSpPr/>
          <p:nvPr/>
        </p:nvSpPr>
        <p:spPr>
          <a:xfrm>
            <a:off x="6184900" y="1530350"/>
            <a:ext cx="5194300" cy="2066925"/>
          </a:xfrm>
          <a:prstGeom prst="roundRect">
            <a:avLst>
              <a:gd name="adj" fmla="val 6144"/>
            </a:avLst>
          </a:prstGeom>
          <a:solidFill>
            <a:srgbClr val="EFEDE6"/>
          </a:solidFill>
          <a:ln/>
        </p:spPr>
      </p:sp>
      <p:sp>
        <p:nvSpPr>
          <p:cNvPr id="7" name="Text 5"/>
          <p:cNvSpPr/>
          <p:nvPr/>
        </p:nvSpPr>
        <p:spPr>
          <a:xfrm>
            <a:off x="6438900" y="1784350"/>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02 · PURPOSE-BASED ACCESS FILTER</a:t>
            </a:r>
            <a:endParaRPr lang="en-US" sz="1200" dirty="0"/>
          </a:p>
        </p:txBody>
      </p:sp>
      <p:sp>
        <p:nvSpPr>
          <p:cNvPr id="8" name="Text 6"/>
          <p:cNvSpPr/>
          <p:nvPr/>
        </p:nvSpPr>
        <p:spPr>
          <a:xfrm>
            <a:off x="6438900" y="2082800"/>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Clearance must meet sensitivity, department must match (or be public / cross-department for CISO-DPO roles), and the declared query purpose must be one of the document's permitted purposes. Every drop is reasoned.</a:t>
            </a:r>
            <a:endParaRPr lang="en-US" sz="1350" dirty="0"/>
          </a:p>
        </p:txBody>
      </p:sp>
      <p:sp>
        <p:nvSpPr>
          <p:cNvPr id="9" name="Shape 7"/>
          <p:cNvSpPr/>
          <p:nvPr/>
        </p:nvSpPr>
        <p:spPr>
          <a:xfrm>
            <a:off x="812800" y="3775075"/>
            <a:ext cx="5194300" cy="2066925"/>
          </a:xfrm>
          <a:prstGeom prst="roundRect">
            <a:avLst>
              <a:gd name="adj" fmla="val 6144"/>
            </a:avLst>
          </a:prstGeom>
          <a:solidFill>
            <a:srgbClr val="EFEDE6"/>
          </a:solidFill>
          <a:ln/>
        </p:spPr>
      </p:sp>
      <p:sp>
        <p:nvSpPr>
          <p:cNvPr id="10" name="Text 8"/>
          <p:cNvSpPr/>
          <p:nvPr/>
        </p:nvSpPr>
        <p:spPr>
          <a:xfrm>
            <a:off x="1066800" y="4029075"/>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03 · PROMPT-INJECTION SCREENING</a:t>
            </a:r>
            <a:endParaRPr lang="en-US" sz="1200" dirty="0"/>
          </a:p>
        </p:txBody>
      </p:sp>
      <p:sp>
        <p:nvSpPr>
          <p:cNvPr id="11" name="Text 9"/>
          <p:cNvSpPr/>
          <p:nvPr/>
        </p:nvSpPr>
        <p:spPr>
          <a:xfrm>
            <a:off x="1066800" y="4327525"/>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Weighted pattern bank with zero-width, HTML-comment and base64 checks, OR an LLM-as-judge (gpt-oss-120b). Flagged chunks are dropped; the rest are wrapped as &lt;untrusted_document&gt;.</a:t>
            </a:r>
            <a:endParaRPr lang="en-US" sz="1350" dirty="0"/>
          </a:p>
        </p:txBody>
      </p:sp>
      <p:sp>
        <p:nvSpPr>
          <p:cNvPr id="12" name="Shape 10"/>
          <p:cNvSpPr/>
          <p:nvPr/>
        </p:nvSpPr>
        <p:spPr>
          <a:xfrm>
            <a:off x="6184900" y="3775075"/>
            <a:ext cx="5194300" cy="2066925"/>
          </a:xfrm>
          <a:prstGeom prst="roundRect">
            <a:avLst>
              <a:gd name="adj" fmla="val 6144"/>
            </a:avLst>
          </a:prstGeom>
          <a:solidFill>
            <a:srgbClr val="EFEDE6"/>
          </a:solidFill>
          <a:ln/>
        </p:spPr>
      </p:sp>
      <p:sp>
        <p:nvSpPr>
          <p:cNvPr id="13" name="Text 11"/>
          <p:cNvSpPr/>
          <p:nvPr/>
        </p:nvSpPr>
        <p:spPr>
          <a:xfrm>
            <a:off x="6438900" y="4029075"/>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04 · TAMPER-EVIDENT AUDIT LOG</a:t>
            </a:r>
            <a:endParaRPr lang="en-US" sz="1200" dirty="0"/>
          </a:p>
        </p:txBody>
      </p:sp>
      <p:sp>
        <p:nvSpPr>
          <p:cNvPr id="14" name="Text 12"/>
          <p:cNvSpPr/>
          <p:nvPr/>
        </p:nvSpPr>
        <p:spPr>
          <a:xfrm>
            <a:off x="6438900" y="4327525"/>
            <a:ext cx="4826889" cy="73025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SHA-256 hash chain over every decision; verify() reports the first broken link. Stores entity types and counts only — never the values — so the audit trail itself is never a leak.</a:t>
            </a:r>
            <a:endParaRPr lang="en-US" sz="1350" dirty="0"/>
          </a:p>
        </p:txBody>
      </p:sp>
      <p:sp>
        <p:nvSpPr>
          <p:cNvPr id="15" name="Text 13"/>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Tech stack</a:t>
            </a:r>
            <a:endParaRPr lang="en-US" sz="3200" dirty="0"/>
          </a:p>
        </p:txBody>
      </p:sp>
      <p:sp>
        <p:nvSpPr>
          <p:cNvPr id="3" name="Shape 1"/>
          <p:cNvSpPr/>
          <p:nvPr/>
        </p:nvSpPr>
        <p:spPr>
          <a:xfrm>
            <a:off x="812800" y="1555750"/>
            <a:ext cx="3386634" cy="4286250"/>
          </a:xfrm>
          <a:prstGeom prst="roundRect">
            <a:avLst>
              <a:gd name="adj" fmla="val 3750"/>
            </a:avLst>
          </a:prstGeom>
          <a:solidFill>
            <a:srgbClr val="EFEDE6"/>
          </a:solidFill>
          <a:ln/>
        </p:spPr>
      </p:sp>
      <p:sp>
        <p:nvSpPr>
          <p:cNvPr id="4" name="Text 2"/>
          <p:cNvSpPr/>
          <p:nvPr/>
        </p:nvSpPr>
        <p:spPr>
          <a:xfrm>
            <a:off x="1066800"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Core &amp; testing</a:t>
            </a:r>
            <a:endParaRPr lang="en-US" sz="1600" dirty="0"/>
          </a:p>
        </p:txBody>
      </p:sp>
      <p:sp>
        <p:nvSpPr>
          <p:cNvPr id="5" name="Text 3"/>
          <p:cNvSpPr/>
          <p:nvPr/>
        </p:nvSpPr>
        <p:spPr>
          <a:xfrm>
            <a:off x="1066800" y="2178050"/>
            <a:ext cx="2964993" cy="1549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Python 3.13 package privacyguard — 12 configurable defence configurations</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123 unit &amp; end-to-end tests, pytest, test-driven</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Committed LLM caches: every result reproducible offline</a:t>
            </a:r>
            <a:endParaRPr lang="en-US" sz="1250" dirty="0"/>
          </a:p>
        </p:txBody>
      </p:sp>
      <p:sp>
        <p:nvSpPr>
          <p:cNvPr id="6" name="Shape 4"/>
          <p:cNvSpPr/>
          <p:nvPr/>
        </p:nvSpPr>
        <p:spPr>
          <a:xfrm>
            <a:off x="4402634" y="1555750"/>
            <a:ext cx="3386634" cy="4286250"/>
          </a:xfrm>
          <a:prstGeom prst="roundRect">
            <a:avLst>
              <a:gd name="adj" fmla="val 3750"/>
            </a:avLst>
          </a:prstGeom>
          <a:solidFill>
            <a:srgbClr val="EFEDE6"/>
          </a:solidFill>
          <a:ln/>
        </p:spPr>
      </p:sp>
      <p:sp>
        <p:nvSpPr>
          <p:cNvPr id="7" name="Text 5"/>
          <p:cNvSpPr/>
          <p:nvPr/>
        </p:nvSpPr>
        <p:spPr>
          <a:xfrm>
            <a:off x="4656634"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Data &amp; retrieval</a:t>
            </a:r>
            <a:endParaRPr lang="en-US" sz="1600" dirty="0"/>
          </a:p>
        </p:txBody>
      </p:sp>
      <p:sp>
        <p:nvSpPr>
          <p:cNvPr id="8" name="Text 6"/>
          <p:cNvSpPr/>
          <p:nvPr/>
        </p:nvSpPr>
        <p:spPr>
          <a:xfrm>
            <a:off x="4656634" y="2178050"/>
            <a:ext cx="2964993" cy="1803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Faker (en_IN): 80 docs, 369 PII spans, 4 canary-poisoned docs; 36 queries × 5 personas</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TF-IDF and bge-small (fastembed) behind one Retriever protocol</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Streamlit demo: compare any two configs, attack lab, compliance</a:t>
            </a:r>
            <a:endParaRPr lang="en-US" sz="1250" dirty="0"/>
          </a:p>
        </p:txBody>
      </p:sp>
      <p:sp>
        <p:nvSpPr>
          <p:cNvPr id="9" name="Shape 7"/>
          <p:cNvSpPr/>
          <p:nvPr/>
        </p:nvSpPr>
        <p:spPr>
          <a:xfrm>
            <a:off x="7992467" y="1555750"/>
            <a:ext cx="3386634" cy="4286250"/>
          </a:xfrm>
          <a:prstGeom prst="roundRect">
            <a:avLst>
              <a:gd name="adj" fmla="val 3750"/>
            </a:avLst>
          </a:prstGeom>
          <a:solidFill>
            <a:srgbClr val="EFEDE6"/>
          </a:solidFill>
          <a:ln/>
        </p:spPr>
      </p:sp>
      <p:sp>
        <p:nvSpPr>
          <p:cNvPr id="10" name="Text 8"/>
          <p:cNvSpPr/>
          <p:nvPr/>
        </p:nvSpPr>
        <p:spPr>
          <a:xfrm>
            <a:off x="8246467"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LLM &amp; detection</a:t>
            </a:r>
            <a:endParaRPr lang="en-US" sz="1600" dirty="0"/>
          </a:p>
        </p:txBody>
      </p:sp>
      <p:sp>
        <p:nvSpPr>
          <p:cNvPr id="11" name="Text 9"/>
          <p:cNvSpPr/>
          <p:nvPr/>
        </p:nvSpPr>
        <p:spPr>
          <a:xfrm>
            <a:off x="8246467" y="2178050"/>
            <a:ext cx="2964993" cy="1549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Groq: qwen/qwen3.8-27b answers, openai/gpt-oss-120b judge</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Comparators: Meta Prompt Guard 2, Microsoft Presidio</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spaCy NER + India-first regex registry</a:t>
            </a:r>
            <a:endParaRPr lang="en-US" sz="1250" dirty="0"/>
          </a:p>
        </p:txBody>
      </p:sp>
      <p:sp>
        <p:nvSpPr>
          <p:cNvPr id="12" name="Text 10"/>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All ten objectives delivered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04950"/>
          <a:ext cx="10566400" cy="3806825"/>
        </p:xfrm>
        <a:graphic>
          <a:graphicData uri="http://schemas.openxmlformats.org/drawingml/2006/table">
            <a:tbl>
              <a:tblPr/>
              <a:tblGrid>
                <a:gridCol w="845312">
                  <a:extLst>
                    <a:ext uri="{9D8B030D-6E8A-4147-A177-3AD203B41FA5}">
                      <a16:colId xmlns:a16="http://schemas.microsoft.com/office/drawing/2014/main" val="20000"/>
                    </a:ext>
                  </a:extLst>
                </a:gridCol>
                <a:gridCol w="6551168">
                  <a:extLst>
                    <a:ext uri="{9D8B030D-6E8A-4147-A177-3AD203B41FA5}">
                      <a16:colId xmlns:a16="http://schemas.microsoft.com/office/drawing/2014/main" val="20001"/>
                    </a:ext>
                  </a:extLst>
                </a:gridCol>
                <a:gridCol w="3169920">
                  <a:extLst>
                    <a:ext uri="{9D8B030D-6E8A-4147-A177-3AD203B41FA5}">
                      <a16:colId xmlns:a16="http://schemas.microsoft.com/office/drawing/2014/main" val="20002"/>
                    </a:ext>
                  </a:extLst>
                </a:gridCol>
              </a:tblGrid>
              <a:tr h="346075">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Objective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Status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O1</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Literature review — 32 verified papers across 5 threat classes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O2</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Data-flow map of a RAG enterprise assistant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O3</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Threat taxonomy — LINDDUN + OWASP LLM Top 10</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O4</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Two or more real-world incident analyses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EchoLeak, Slack AI, Samsung</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4"/>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O5</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Prototype privacy-guard middleware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4 controls + redacted index</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5"/>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O6</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Quantitative evaluation protocol applied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9 metrics × 12 configs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6"/>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O7</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DPIA-style risk register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7-risk register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7"/>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O8</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Clause mapping — DPDP / Rules 2025 / GDPR / EU AI Act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24 verified clauses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8"/>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O9</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Privacy Assurance Checklist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13 executable checks, 12 pass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9"/>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O10</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Limitations &amp; future work documented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 — report &amp; slide 16</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Text 1"/>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Measured results — 36 queries, 5 personas, LLM on Groq</a:t>
            </a:r>
            <a:endParaRPr lang="en-US" sz="3200" dirty="0"/>
          </a:p>
        </p:txBody>
      </p:sp>
      <p:sp>
        <p:nvSpPr>
          <p:cNvPr id="3" name="Shape 1"/>
          <p:cNvSpPr/>
          <p:nvPr/>
        </p:nvSpPr>
        <p:spPr>
          <a:xfrm>
            <a:off x="812800" y="1530350"/>
            <a:ext cx="5181600" cy="1441450"/>
          </a:xfrm>
          <a:prstGeom prst="roundRect">
            <a:avLst>
              <a:gd name="adj" fmla="val 8811"/>
            </a:avLst>
          </a:prstGeom>
          <a:solidFill>
            <a:srgbClr val="EFEDE6"/>
          </a:solidFill>
          <a:ln/>
        </p:spPr>
      </p:sp>
      <p:sp>
        <p:nvSpPr>
          <p:cNvPr id="4" name="Text 2"/>
          <p:cNvSpPr/>
          <p:nvPr/>
        </p:nvSpPr>
        <p:spPr>
          <a:xfrm>
            <a:off x="1066800" y="1784350"/>
            <a:ext cx="48138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PII sent to the LLM provider</a:t>
            </a:r>
            <a:endParaRPr lang="en-US" sz="1250" dirty="0"/>
          </a:p>
        </p:txBody>
      </p:sp>
      <p:sp>
        <p:nvSpPr>
          <p:cNvPr id="5" name="Text 3"/>
          <p:cNvSpPr/>
          <p:nvPr/>
        </p:nvSpPr>
        <p:spPr>
          <a:xfrm>
            <a:off x="1066800" y="2222500"/>
            <a:ext cx="1041400" cy="482600"/>
          </a:xfrm>
          <a:prstGeom prst="rect">
            <a:avLst/>
          </a:prstGeom>
          <a:noFill/>
          <a:ln/>
        </p:spPr>
        <p:txBody>
          <a:bodyPr wrap="square" lIns="0" tIns="0" rIns="0" bIns="0" rtlCol="0" anchor="t">
            <a:normAutofit/>
          </a:bodyPr>
          <a:lstStyle/>
          <a:p>
            <a:pPr marL="0" indent="0" algn="l">
              <a:lnSpc>
                <a:spcPts val="3640"/>
              </a:lnSpc>
              <a:buNone/>
            </a:pPr>
            <a:r>
              <a:rPr lang="en-US" sz="2600" strike="sngStrike" dirty="0">
                <a:solidFill>
                  <a:srgbClr val="8A8F8C"/>
                </a:solidFill>
                <a:latin typeface="IBM Plex Mono" pitchFamily="34" charset="0"/>
                <a:ea typeface="IBM Plex Mono" pitchFamily="34" charset="-122"/>
                <a:cs typeface="IBM Plex Mono" pitchFamily="34" charset="-120"/>
              </a:rPr>
              <a:t>100%</a:t>
            </a:r>
            <a:endParaRPr lang="en-US" sz="2600" dirty="0"/>
          </a:p>
        </p:txBody>
      </p:sp>
      <p:pic>
        <p:nvPicPr>
          <p:cNvPr id="6" name="Image 0" descr="arrow-right"/>
          <p:cNvPicPr>
            <a:picLocks noChangeAspect="1"/>
          </p:cNvPicPr>
          <p:nvPr/>
        </p:nvPicPr>
        <p:blipFill>
          <a:blip r:embed="rId3"/>
          <a:srcRect/>
          <a:stretch/>
        </p:blipFill>
        <p:spPr>
          <a:xfrm>
            <a:off x="2184400" y="2444750"/>
            <a:ext cx="228600" cy="127000"/>
          </a:xfrm>
          <a:prstGeom prst="rect">
            <a:avLst/>
          </a:prstGeom>
        </p:spPr>
      </p:pic>
      <p:sp>
        <p:nvSpPr>
          <p:cNvPr id="7" name="Text 4"/>
          <p:cNvSpPr/>
          <p:nvPr/>
        </p:nvSpPr>
        <p:spPr>
          <a:xfrm>
            <a:off x="2540000" y="2082800"/>
            <a:ext cx="1148159" cy="66040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5E"/>
                </a:solidFill>
                <a:latin typeface="IBM Plex Mono" pitchFamily="34" charset="0"/>
                <a:ea typeface="IBM Plex Mono" pitchFamily="34" charset="-122"/>
                <a:cs typeface="IBM Plex Mono" pitchFamily="34" charset="-120"/>
              </a:rPr>
              <a:t>0%</a:t>
            </a:r>
            <a:endParaRPr lang="en-US" sz="3600" dirty="0"/>
          </a:p>
        </p:txBody>
      </p:sp>
      <p:sp>
        <p:nvSpPr>
          <p:cNvPr id="8" name="Shape 5"/>
          <p:cNvSpPr/>
          <p:nvPr/>
        </p:nvSpPr>
        <p:spPr>
          <a:xfrm>
            <a:off x="6197600" y="1530350"/>
            <a:ext cx="5181600" cy="1441450"/>
          </a:xfrm>
          <a:prstGeom prst="roundRect">
            <a:avLst>
              <a:gd name="adj" fmla="val 8811"/>
            </a:avLst>
          </a:prstGeom>
          <a:solidFill>
            <a:srgbClr val="EFEDE6"/>
          </a:solidFill>
          <a:ln/>
        </p:spPr>
      </p:sp>
      <p:sp>
        <p:nvSpPr>
          <p:cNvPr id="9" name="Text 6"/>
          <p:cNvSpPr/>
          <p:nvPr/>
        </p:nvSpPr>
        <p:spPr>
          <a:xfrm>
            <a:off x="6451600" y="1784350"/>
            <a:ext cx="48138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Over-sharing retrieval rate</a:t>
            </a:r>
            <a:endParaRPr lang="en-US" sz="1250" dirty="0"/>
          </a:p>
        </p:txBody>
      </p:sp>
      <p:sp>
        <p:nvSpPr>
          <p:cNvPr id="10" name="Text 7"/>
          <p:cNvSpPr/>
          <p:nvPr/>
        </p:nvSpPr>
        <p:spPr>
          <a:xfrm>
            <a:off x="6451600" y="2222500"/>
            <a:ext cx="1041400" cy="482600"/>
          </a:xfrm>
          <a:prstGeom prst="rect">
            <a:avLst/>
          </a:prstGeom>
          <a:noFill/>
          <a:ln/>
        </p:spPr>
        <p:txBody>
          <a:bodyPr wrap="square" lIns="0" tIns="0" rIns="0" bIns="0" rtlCol="0" anchor="t">
            <a:normAutofit/>
          </a:bodyPr>
          <a:lstStyle/>
          <a:p>
            <a:pPr marL="0" indent="0" algn="l">
              <a:lnSpc>
                <a:spcPts val="3640"/>
              </a:lnSpc>
              <a:buNone/>
            </a:pPr>
            <a:r>
              <a:rPr lang="en-US" sz="2600" strike="sngStrike" dirty="0">
                <a:solidFill>
                  <a:srgbClr val="8A8F8C"/>
                </a:solidFill>
                <a:latin typeface="IBM Plex Mono" pitchFamily="34" charset="0"/>
                <a:ea typeface="IBM Plex Mono" pitchFamily="34" charset="-122"/>
                <a:cs typeface="IBM Plex Mono" pitchFamily="34" charset="-120"/>
              </a:rPr>
              <a:t>50.9%</a:t>
            </a:r>
            <a:endParaRPr lang="en-US" sz="2600" dirty="0"/>
          </a:p>
        </p:txBody>
      </p:sp>
      <p:pic>
        <p:nvPicPr>
          <p:cNvPr id="11" name="Image 1" descr="arrow-right"/>
          <p:cNvPicPr>
            <a:picLocks noChangeAspect="1"/>
          </p:cNvPicPr>
          <p:nvPr/>
        </p:nvPicPr>
        <p:blipFill>
          <a:blip r:embed="rId3"/>
          <a:srcRect/>
          <a:stretch/>
        </p:blipFill>
        <p:spPr>
          <a:xfrm>
            <a:off x="7569200" y="2444750"/>
            <a:ext cx="228600" cy="127000"/>
          </a:xfrm>
          <a:prstGeom prst="rect">
            <a:avLst/>
          </a:prstGeom>
        </p:spPr>
      </p:pic>
      <p:sp>
        <p:nvSpPr>
          <p:cNvPr id="12" name="Text 8"/>
          <p:cNvSpPr/>
          <p:nvPr/>
        </p:nvSpPr>
        <p:spPr>
          <a:xfrm>
            <a:off x="7924800" y="2082800"/>
            <a:ext cx="1148159" cy="66040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5E"/>
                </a:solidFill>
                <a:latin typeface="IBM Plex Mono" pitchFamily="34" charset="0"/>
                <a:ea typeface="IBM Plex Mono" pitchFamily="34" charset="-122"/>
                <a:cs typeface="IBM Plex Mono" pitchFamily="34" charset="-120"/>
              </a:rPr>
              <a:t>0%</a:t>
            </a:r>
            <a:endParaRPr lang="en-US" sz="3600" dirty="0"/>
          </a:p>
        </p:txBody>
      </p:sp>
      <p:sp>
        <p:nvSpPr>
          <p:cNvPr id="14" name="Text 9"/>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graphicFrame>
        <p:nvGraphicFramePr>
          <p:cNvPr id="15" name="Table 14"/>
          <p:cNvGraphicFramePr>
            <a:graphicFrameLocks noGrp="1"/>
          </p:cNvGraphicFramePr>
          <p:nvPr/>
        </p:nvGraphicFramePr>
        <p:xfrm>
          <a:off x="813816" y="3154680"/>
          <a:ext cx="10570464" cy="2560320"/>
        </p:xfrm>
        <a:graphic>
          <a:graphicData uri="http://schemas.openxmlformats.org/drawingml/2006/table">
            <a:tbl>
              <a:tblPr firstRow="0" bandRow="0">
                <a:tableStyleId>{2D5ABB26-0587-4C30-8999-92F81FD0307C}</a:tableStyleId>
              </a:tblPr>
              <a:tblGrid>
                <a:gridCol w="6035040"/>
                <a:gridCol w="2194560"/>
                <a:gridCol w="2340864"/>
              </a:tblGrid>
              <a:tr h="365760">
                <a:tc>
                  <a:txBody>
                    <a:bodyPr wrap="square"/>
                    <a:lstStyle/>
                    <a:p>
                      <a:r>
                        <a:rPr sz="1200" b="1">
                          <a:solidFill>
                            <a:srgbClr val="4A5568"/>
                          </a:solidFill>
                          <a:latin typeface="IBM Plex Sans"/>
                        </a:rPr>
                        <a:t>Metric</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Vanilla RAG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Copilot Privacy Guard</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Raw PII stored in the vector index</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Poisoned chunks reaching the LLM</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Injection success — canary obeyed by the LLM (injection queries)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PII in final LLM answers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13.1%</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Answer-quality retention (ROUGE-L vs undefended)</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34.9%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65760">
                <a:tc>
                  <a:txBody>
                    <a:bodyPr wrap="square"/>
                    <a:lstStyle/>
                    <a:p>
                      <a:r>
                        <a:rPr sz="1200">
                          <a:solidFill>
                            <a:srgbClr val="14171A"/>
                          </a:solidFill>
                          <a:latin typeface="IBM Plex Sans"/>
                        </a:rPr>
                        <a:t>Added latency per query (median)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+97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6F5E"/>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FAFAF8"/>
                </a:solidFill>
                <a:latin typeface="Space Grotesk" pitchFamily="34" charset="0"/>
                <a:ea typeface="Space Grotesk" pitchFamily="34" charset="-122"/>
                <a:cs typeface="Space Grotesk" pitchFamily="34" charset="-120"/>
              </a:rPr>
              <a:t>What nobody else in our survey does together</a:t>
            </a:r>
            <a:endParaRPr lang="en-US" sz="3000" dirty="0"/>
          </a:p>
        </p:txBody>
      </p:sp>
      <p:sp>
        <p:nvSpPr>
          <p:cNvPr id="3" name="Text 1"/>
          <p:cNvSpPr/>
          <p:nvPr/>
        </p:nvSpPr>
        <p:spPr>
          <a:xfrm>
            <a:off x="812800"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01</a:t>
            </a:r>
            <a:endParaRPr lang="en-US" sz="2800" dirty="0"/>
          </a:p>
        </p:txBody>
      </p:sp>
      <p:sp>
        <p:nvSpPr>
          <p:cNvPr id="4" name="Text 2"/>
          <p:cNvSpPr/>
          <p:nvPr/>
        </p:nvSpPr>
        <p:spPr>
          <a:xfrm>
            <a:off x="812800" y="2228850"/>
            <a:ext cx="34185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Role- and purpose-aware</a:t>
            </a:r>
            <a:endParaRPr lang="en-US" sz="1600" dirty="0"/>
          </a:p>
        </p:txBody>
      </p:sp>
      <p:sp>
        <p:nvSpPr>
          <p:cNvPr id="5" name="Text 3"/>
          <p:cNvSpPr/>
          <p:nvPr/>
        </p:nvSpPr>
        <p:spPr>
          <a:xfrm>
            <a:off x="812800" y="25971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Every survey defence works on tokens, logits or embeddings. Ours encodes DPDP's purpose-limitation principle as a runtime rule — access isn't just who, it's why.</a:t>
            </a:r>
            <a:endParaRPr lang="en-US" sz="1250" dirty="0"/>
          </a:p>
        </p:txBody>
      </p:sp>
      <p:sp>
        <p:nvSpPr>
          <p:cNvPr id="6" name="Text 4"/>
          <p:cNvSpPr/>
          <p:nvPr/>
        </p:nvSpPr>
        <p:spPr>
          <a:xfrm>
            <a:off x="4436566"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02</a:t>
            </a:r>
            <a:endParaRPr lang="en-US" sz="2800" dirty="0"/>
          </a:p>
        </p:txBody>
      </p:sp>
      <p:sp>
        <p:nvSpPr>
          <p:cNvPr id="7" name="Text 5"/>
          <p:cNvSpPr/>
          <p:nvPr/>
        </p:nvSpPr>
        <p:spPr>
          <a:xfrm>
            <a:off x="4436566" y="2228850"/>
            <a:ext cx="34185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India-first PII</a:t>
            </a:r>
            <a:endParaRPr lang="en-US" sz="1600" dirty="0"/>
          </a:p>
        </p:txBody>
      </p:sp>
      <p:sp>
        <p:nvSpPr>
          <p:cNvPr id="8" name="Text 6"/>
          <p:cNvSpPr/>
          <p:nvPr/>
        </p:nvSpPr>
        <p:spPr>
          <a:xfrm>
            <a:off x="4436566" y="25971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Held-out F1 89.5% vs 54.3% for Presidio as shipped — Aadhaar (Verhoeff), PAN, IFSC, UPI and ₹ salary formats Presidio misses or ships disabled.</a:t>
            </a:r>
            <a:endParaRPr lang="en-US" sz="1250" dirty="0"/>
          </a:p>
        </p:txBody>
      </p:sp>
      <p:sp>
        <p:nvSpPr>
          <p:cNvPr id="9" name="Text 7"/>
          <p:cNvSpPr/>
          <p:nvPr/>
        </p:nvSpPr>
        <p:spPr>
          <a:xfrm>
            <a:off x="8060333"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03</a:t>
            </a:r>
            <a:endParaRPr lang="en-US" sz="2800" dirty="0"/>
          </a:p>
        </p:txBody>
      </p:sp>
      <p:sp>
        <p:nvSpPr>
          <p:cNvPr id="10" name="Text 8"/>
          <p:cNvSpPr/>
          <p:nvPr/>
        </p:nvSpPr>
        <p:spPr>
          <a:xfrm>
            <a:off x="8060333" y="2228850"/>
            <a:ext cx="3418535"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Integrated &amp; measured as one pipeline</a:t>
            </a:r>
            <a:endParaRPr lang="en-US" sz="1600" dirty="0"/>
          </a:p>
        </p:txBody>
      </p:sp>
      <p:sp>
        <p:nvSpPr>
          <p:cNvPr id="11" name="Text 9"/>
          <p:cNvSpPr/>
          <p:nvPr/>
        </p:nvSpPr>
        <p:spPr>
          <a:xfrm>
            <a:off x="8060333" y="28384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Four controls, a redacted index and one audit chain — measured against six defence families on the same corpus, queries and LLM, with every clause mapped to evidence.</a:t>
            </a:r>
            <a:endParaRPr lang="en-US" sz="1250" dirty="0"/>
          </a:p>
        </p:txBody>
      </p:sp>
      <p:sp>
        <p:nvSpPr>
          <p:cNvPr id="12" name="Text 10"/>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Said before we're asked</a:t>
            </a:r>
            <a:endParaRPr lang="en-US" sz="3200" dirty="0"/>
          </a:p>
        </p:txBody>
      </p:sp>
      <p:sp>
        <p:nvSpPr>
          <p:cNvPr id="3" name="Shape 1"/>
          <p:cNvSpPr/>
          <p:nvPr/>
        </p:nvSpPr>
        <p:spPr>
          <a:xfrm>
            <a:off x="812800" y="2219325"/>
            <a:ext cx="10566400" cy="0"/>
          </a:xfrm>
          <a:prstGeom prst="line">
            <a:avLst/>
          </a:prstGeom>
          <a:noFill/>
          <a:ln w="6350">
            <a:solidFill>
              <a:srgbClr val="E3E1D9"/>
            </a:solidFill>
            <a:prstDash val="solid"/>
          </a:ln>
        </p:spPr>
      </p:sp>
      <p:sp>
        <p:nvSpPr>
          <p:cNvPr id="4" name="Shape 2"/>
          <p:cNvSpPr/>
          <p:nvPr/>
        </p:nvSpPr>
        <p:spPr>
          <a:xfrm>
            <a:off x="812800" y="1619250"/>
            <a:ext cx="38100" cy="228600"/>
          </a:xfrm>
          <a:prstGeom prst="roundRect">
            <a:avLst>
              <a:gd name="adj" fmla="val 50000"/>
            </a:avLst>
          </a:prstGeom>
          <a:solidFill>
            <a:srgbClr val="B8860B"/>
          </a:solidFill>
          <a:ln/>
        </p:spPr>
      </p:sp>
      <p:sp>
        <p:nvSpPr>
          <p:cNvPr id="5" name="Text 3"/>
          <p:cNvSpPr/>
          <p:nvPr/>
        </p:nvSpPr>
        <p:spPr>
          <a:xfrm>
            <a:off x="1028700" y="1619250"/>
            <a:ext cx="10661015" cy="4826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Utility cost — answer-quality retention 34.9% ROUGE-L: redaction removes names and contacts users ask for; heuristic false positives drop benign chunks (A12 fails).</a:t>
            </a:r>
            <a:endParaRPr lang="en-US" sz="1300" dirty="0"/>
          </a:p>
        </p:txBody>
      </p:sp>
      <p:sp>
        <p:nvSpPr>
          <p:cNvPr id="6" name="Shape 4"/>
          <p:cNvSpPr/>
          <p:nvPr/>
        </p:nvSpPr>
        <p:spPr>
          <a:xfrm>
            <a:off x="812800" y="2962275"/>
            <a:ext cx="10566400" cy="0"/>
          </a:xfrm>
          <a:prstGeom prst="line">
            <a:avLst/>
          </a:prstGeom>
          <a:noFill/>
          <a:ln w="6350">
            <a:solidFill>
              <a:srgbClr val="E3E1D9"/>
            </a:solidFill>
            <a:prstDash val="solid"/>
          </a:ln>
        </p:spPr>
      </p:sp>
      <p:sp>
        <p:nvSpPr>
          <p:cNvPr id="7" name="Shape 5"/>
          <p:cNvSpPr/>
          <p:nvPr/>
        </p:nvSpPr>
        <p:spPr>
          <a:xfrm>
            <a:off x="812800" y="2362200"/>
            <a:ext cx="38100" cy="228600"/>
          </a:xfrm>
          <a:prstGeom prst="roundRect">
            <a:avLst>
              <a:gd name="adj" fmla="val 50000"/>
            </a:avLst>
          </a:prstGeom>
          <a:solidFill>
            <a:srgbClr val="B8860B"/>
          </a:solidFill>
          <a:ln/>
        </p:spPr>
      </p:sp>
      <p:sp>
        <p:nvSpPr>
          <p:cNvPr id="8" name="Text 6"/>
          <p:cNvSpPr/>
          <p:nvPr/>
        </p:nvSpPr>
        <p:spPr>
          <a:xfrm>
            <a:off x="1028700" y="2362200"/>
            <a:ext cx="10661015" cy="4826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Latency — median +97 ms per query with caches; each uncached judge call takes ~553 ms.</a:t>
            </a:r>
            <a:endParaRPr lang="en-US" sz="1300" dirty="0"/>
          </a:p>
        </p:txBody>
      </p:sp>
      <p:sp>
        <p:nvSpPr>
          <p:cNvPr id="9" name="Shape 7"/>
          <p:cNvSpPr/>
          <p:nvPr/>
        </p:nvSpPr>
        <p:spPr>
          <a:xfrm>
            <a:off x="812800" y="3476625"/>
            <a:ext cx="10566400" cy="0"/>
          </a:xfrm>
          <a:prstGeom prst="line">
            <a:avLst/>
          </a:prstGeom>
          <a:noFill/>
          <a:ln w="6350">
            <a:solidFill>
              <a:srgbClr val="E3E1D9"/>
            </a:solidFill>
            <a:prstDash val="solid"/>
          </a:ln>
        </p:spPr>
      </p:sp>
      <p:sp>
        <p:nvSpPr>
          <p:cNvPr id="10" name="Shape 8"/>
          <p:cNvSpPr/>
          <p:nvPr/>
        </p:nvSpPr>
        <p:spPr>
          <a:xfrm>
            <a:off x="812800" y="3105150"/>
            <a:ext cx="38100" cy="228600"/>
          </a:xfrm>
          <a:prstGeom prst="roundRect">
            <a:avLst>
              <a:gd name="adj" fmla="val 50000"/>
            </a:avLst>
          </a:prstGeom>
          <a:solidFill>
            <a:srgbClr val="B8860B"/>
          </a:solidFill>
          <a:ln/>
        </p:spPr>
      </p:sp>
      <p:sp>
        <p:nvSpPr>
          <p:cNvPr id="11" name="Text 9"/>
          <p:cNvSpPr/>
          <p:nvPr/>
        </p:nvSpPr>
        <p:spPr>
          <a:xfrm>
            <a:off x="1028700" y="3105150"/>
            <a:ext cx="988586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Synthetic corpus — a held-out set limits author bias; two detector fixes made after the first run are disclosed.</a:t>
            </a:r>
            <a:endParaRPr lang="en-US" sz="1300" dirty="0"/>
          </a:p>
        </p:txBody>
      </p:sp>
      <p:sp>
        <p:nvSpPr>
          <p:cNvPr id="12" name="Shape 10"/>
          <p:cNvSpPr/>
          <p:nvPr/>
        </p:nvSpPr>
        <p:spPr>
          <a:xfrm>
            <a:off x="812800" y="3990975"/>
            <a:ext cx="10566400" cy="0"/>
          </a:xfrm>
          <a:prstGeom prst="line">
            <a:avLst/>
          </a:prstGeom>
          <a:noFill/>
          <a:ln w="6350">
            <a:solidFill>
              <a:srgbClr val="E3E1D9"/>
            </a:solidFill>
            <a:prstDash val="solid"/>
          </a:ln>
        </p:spPr>
      </p:sp>
      <p:sp>
        <p:nvSpPr>
          <p:cNvPr id="13" name="Shape 11"/>
          <p:cNvSpPr/>
          <p:nvPr/>
        </p:nvSpPr>
        <p:spPr>
          <a:xfrm>
            <a:off x="812800" y="3619500"/>
            <a:ext cx="38100" cy="228600"/>
          </a:xfrm>
          <a:prstGeom prst="roundRect">
            <a:avLst>
              <a:gd name="adj" fmla="val 50000"/>
            </a:avLst>
          </a:prstGeom>
          <a:solidFill>
            <a:srgbClr val="B8860B"/>
          </a:solidFill>
          <a:ln/>
        </p:spPr>
      </p:sp>
      <p:sp>
        <p:nvSpPr>
          <p:cNvPr id="14" name="Text 12"/>
          <p:cNvSpPr/>
          <p:nvPr/>
        </p:nvSpPr>
        <p:spPr>
          <a:xfrm>
            <a:off x="1028700" y="3619500"/>
            <a:ext cx="983609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Static access model — tags on documents, not an identity-provider integration.</a:t>
            </a:r>
            <a:endParaRPr lang="en-US" sz="1300" dirty="0"/>
          </a:p>
        </p:txBody>
      </p:sp>
      <p:sp>
        <p:nvSpPr>
          <p:cNvPr id="15" name="Shape 13"/>
          <p:cNvSpPr/>
          <p:nvPr/>
        </p:nvSpPr>
        <p:spPr>
          <a:xfrm>
            <a:off x="812800" y="4133850"/>
            <a:ext cx="38100" cy="228600"/>
          </a:xfrm>
          <a:prstGeom prst="roundRect">
            <a:avLst>
              <a:gd name="adj" fmla="val 50000"/>
            </a:avLst>
          </a:prstGeom>
          <a:solidFill>
            <a:srgbClr val="B8860B"/>
          </a:solidFill>
          <a:ln/>
        </p:spPr>
      </p:sp>
      <p:sp>
        <p:nvSpPr>
          <p:cNvPr id="16" name="Text 14"/>
          <p:cNvSpPr/>
          <p:nvPr/>
        </p:nvSpPr>
        <p:spPr>
          <a:xfrm>
            <a:off x="1028700" y="4133850"/>
            <a:ext cx="736746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Injection success has few positives — the LLM itself refused most canaries; exposure is the robust measure.</a:t>
            </a:r>
            <a:endParaRPr lang="en-US" sz="1300" dirty="0"/>
          </a:p>
        </p:txBody>
      </p:sp>
      <p:sp>
        <p:nvSpPr>
          <p:cNvPr id="17" name="Text 15"/>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AFAF8"/>
                </a:solidFill>
                <a:latin typeface="Space Grotesk" pitchFamily="34" charset="0"/>
                <a:ea typeface="Space Grotesk" pitchFamily="34" charset="-122"/>
                <a:cs typeface="Space Grotesk" pitchFamily="34" charset="-120"/>
              </a:rPr>
              <a:t>Future work</a:t>
            </a:r>
            <a:endParaRPr lang="en-US" sz="3200" dirty="0"/>
          </a:p>
        </p:txBody>
      </p:sp>
      <p:sp>
        <p:nvSpPr>
          <p:cNvPr id="3" name="Text 1"/>
          <p:cNvSpPr/>
          <p:nvPr/>
        </p:nvSpPr>
        <p:spPr>
          <a:xfrm>
            <a:off x="812800" y="1530350"/>
            <a:ext cx="14237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1</a:t>
            </a:r>
            <a:endParaRPr lang="en-US" sz="1400" dirty="0"/>
          </a:p>
        </p:txBody>
      </p:sp>
      <p:sp>
        <p:nvSpPr>
          <p:cNvPr id="4" name="Text 2"/>
          <p:cNvSpPr/>
          <p:nvPr/>
        </p:nvSpPr>
        <p:spPr>
          <a:xfrm>
            <a:off x="1031379" y="1530350"/>
            <a:ext cx="521656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LLM judge as the sole drop decision — keep 100% detection, remove heuristic false positives</a:t>
            </a:r>
            <a:endParaRPr lang="en-US" sz="1250" dirty="0"/>
          </a:p>
        </p:txBody>
      </p:sp>
      <p:sp>
        <p:nvSpPr>
          <p:cNvPr id="5" name="Text 3"/>
          <p:cNvSpPr/>
          <p:nvPr/>
        </p:nvSpPr>
        <p:spPr>
          <a:xfrm>
            <a:off x="6096000" y="1530350"/>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2</a:t>
            </a:r>
            <a:endParaRPr lang="en-US" sz="1400" dirty="0"/>
          </a:p>
        </p:txBody>
      </p:sp>
      <p:sp>
        <p:nvSpPr>
          <p:cNvPr id="6" name="Text 4"/>
          <p:cNvSpPr/>
          <p:nvPr/>
        </p:nvSpPr>
        <p:spPr>
          <a:xfrm>
            <a:off x="6329759" y="1530350"/>
            <a:ext cx="50419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Re-identify placeholders for authorised users</a:t>
            </a:r>
            <a:endParaRPr lang="en-US" sz="1250" dirty="0"/>
          </a:p>
        </p:txBody>
      </p:sp>
      <p:sp>
        <p:nvSpPr>
          <p:cNvPr id="7" name="Text 5"/>
          <p:cNvSpPr/>
          <p:nvPr/>
        </p:nvSpPr>
        <p:spPr>
          <a:xfrm>
            <a:off x="812800" y="2608263"/>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3</a:t>
            </a:r>
            <a:endParaRPr lang="en-US" sz="1400" dirty="0"/>
          </a:p>
        </p:txBody>
      </p:sp>
      <p:sp>
        <p:nvSpPr>
          <p:cNvPr id="8" name="Text 6"/>
          <p:cNvSpPr/>
          <p:nvPr/>
        </p:nvSpPr>
        <p:spPr>
          <a:xfrm>
            <a:off x="1046559" y="2608263"/>
            <a:ext cx="5164747"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Recognizers for secrets, spaced mobiles, written dates, lakh/crore</a:t>
            </a:r>
            <a:endParaRPr lang="en-US" sz="1250" dirty="0"/>
          </a:p>
        </p:txBody>
      </p:sp>
      <p:sp>
        <p:nvSpPr>
          <p:cNvPr id="9" name="Text 7"/>
          <p:cNvSpPr/>
          <p:nvPr/>
        </p:nvSpPr>
        <p:spPr>
          <a:xfrm>
            <a:off x="6096000" y="2608263"/>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4</a:t>
            </a:r>
            <a:endParaRPr lang="en-US" sz="1400" dirty="0"/>
          </a:p>
        </p:txBody>
      </p:sp>
      <p:sp>
        <p:nvSpPr>
          <p:cNvPr id="10" name="Text 8"/>
          <p:cNvSpPr/>
          <p:nvPr/>
        </p:nvSpPr>
        <p:spPr>
          <a:xfrm>
            <a:off x="6329759" y="2608263"/>
            <a:ext cx="4960049"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Output egress allow-list (EchoLeak, Slack AI gap)</a:t>
            </a:r>
            <a:endParaRPr lang="en-US" sz="1250" dirty="0"/>
          </a:p>
        </p:txBody>
      </p:sp>
      <p:sp>
        <p:nvSpPr>
          <p:cNvPr id="11" name="Text 9"/>
          <p:cNvSpPr/>
          <p:nvPr/>
        </p:nvSpPr>
        <p:spPr>
          <a:xfrm>
            <a:off x="812800" y="3686175"/>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5</a:t>
            </a:r>
            <a:endParaRPr lang="en-US" sz="1400" dirty="0"/>
          </a:p>
        </p:txBody>
      </p:sp>
      <p:sp>
        <p:nvSpPr>
          <p:cNvPr id="12" name="Text 10"/>
          <p:cNvSpPr/>
          <p:nvPr/>
        </p:nvSpPr>
        <p:spPr>
          <a:xfrm>
            <a:off x="1046559" y="3686175"/>
            <a:ext cx="5133475"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Identity-provider ACLs + consent prompt for purpose</a:t>
            </a:r>
            <a:endParaRPr lang="en-US" sz="1250" dirty="0"/>
          </a:p>
        </p:txBody>
      </p:sp>
      <p:sp>
        <p:nvSpPr>
          <p:cNvPr id="13" name="Text 11"/>
          <p:cNvSpPr/>
          <p:nvPr/>
        </p:nvSpPr>
        <p:spPr>
          <a:xfrm>
            <a:off x="6096000" y="3686175"/>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6</a:t>
            </a:r>
            <a:endParaRPr lang="en-US" sz="1400" dirty="0"/>
          </a:p>
        </p:txBody>
      </p:sp>
      <p:sp>
        <p:nvSpPr>
          <p:cNvPr id="14" name="Text 12"/>
          <p:cNvSpPr/>
          <p:nvPr/>
        </p:nvSpPr>
        <p:spPr>
          <a:xfrm>
            <a:off x="6329759" y="3686175"/>
            <a:ext cx="5104247"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Real de-identified corpus; adaptive attacks</a:t>
            </a:r>
            <a:endParaRPr lang="en-US" sz="1250" dirty="0"/>
          </a:p>
        </p:txBody>
      </p:sp>
      <p:sp>
        <p:nvSpPr>
          <p:cNvPr id="15" name="Text 13"/>
          <p:cNvSpPr/>
          <p:nvPr/>
        </p:nvSpPr>
        <p:spPr>
          <a:xfrm>
            <a:off x="812800" y="4764088"/>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7</a:t>
            </a:r>
            <a:endParaRPr lang="en-US" sz="1400" dirty="0"/>
          </a:p>
        </p:txBody>
      </p:sp>
      <p:sp>
        <p:nvSpPr>
          <p:cNvPr id="16" name="Text 14"/>
          <p:cNvSpPr/>
          <p:nvPr/>
        </p:nvSpPr>
        <p:spPr>
          <a:xfrm>
            <a:off x="1046559" y="4764088"/>
            <a:ext cx="4804202"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Batch and cache judge calls to cut latency</a:t>
            </a:r>
            <a:endParaRPr lang="en-US" sz="1250" dirty="0"/>
          </a:p>
        </p:txBody>
      </p:sp>
      <p:sp>
        <p:nvSpPr>
          <p:cNvPr id="17" name="Shape 15"/>
          <p:cNvSpPr/>
          <p:nvPr/>
        </p:nvSpPr>
        <p:spPr>
          <a:xfrm>
            <a:off x="6096000" y="4764088"/>
            <a:ext cx="5283200" cy="1077913"/>
          </a:xfrm>
          <a:prstGeom prst="roundRect">
            <a:avLst>
              <a:gd name="adj" fmla="val 9426"/>
            </a:avLst>
          </a:prstGeom>
          <a:solidFill>
            <a:srgbClr val="1D2225"/>
          </a:solidFill>
          <a:ln/>
        </p:spPr>
      </p:sp>
      <p:sp>
        <p:nvSpPr>
          <p:cNvPr id="18" name="Text 16"/>
          <p:cNvSpPr/>
          <p:nvPr/>
        </p:nvSpPr>
        <p:spPr>
          <a:xfrm>
            <a:off x="6273800" y="5061744"/>
            <a:ext cx="507542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Thank you — questions welcome</a:t>
            </a:r>
            <a:endParaRPr lang="en-US" sz="1200" dirty="0"/>
          </a:p>
        </p:txBody>
      </p:sp>
      <p:sp>
        <p:nvSpPr>
          <p:cNvPr id="19" name="Text 17"/>
          <p:cNvSpPr/>
          <p:nvPr/>
        </p:nvSpPr>
        <p:spPr>
          <a:xfrm>
            <a:off x="6273800" y="5334794"/>
            <a:ext cx="507542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A593"/>
                </a:solidFill>
                <a:latin typeface="IBM Plex Mono" pitchFamily="34" charset="0"/>
                <a:ea typeface="IBM Plex Mono" pitchFamily="34" charset="-122"/>
                <a:cs typeface="IBM Plex Mono" pitchFamily="34" charset="-120"/>
              </a:rPr>
              <a:t>github.com/Adi07289/copilot-privacy-guard</a:t>
            </a:r>
            <a:endParaRPr lang="en-US" sz="1200" dirty="0"/>
          </a:p>
        </p:txBody>
      </p:sp>
      <p:sp>
        <p:nvSpPr>
          <p:cNvPr id="20" name="Text 18"/>
          <p:cNvSpPr/>
          <p:nvPr/>
        </p:nvSpPr>
        <p:spPr>
          <a:xfrm>
            <a:off x="812800" y="6242050"/>
            <a:ext cx="19846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Aditya Sharma · Aarav Raina</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Where the literature stops — and what we add</a:t>
            </a:r>
          </a:p>
        </p:txBody>
      </p:sp>
      <p:graphicFrame>
        <p:nvGraphicFramePr>
          <p:cNvPr id="3" name="Table 2"/>
          <p:cNvGraphicFramePr>
            <a:graphicFrameLocks noGrp="1"/>
          </p:cNvGraphicFramePr>
          <p:nvPr/>
        </p:nvGraphicFramePr>
        <p:xfrm>
          <a:off x="813816" y="1371600"/>
          <a:ext cx="10570464" cy="3840480"/>
        </p:xfrm>
        <a:graphic>
          <a:graphicData uri="http://schemas.openxmlformats.org/drawingml/2006/table">
            <a:tbl>
              <a:tblPr firstRow="0" bandRow="0">
                <a:tableStyleId>{2D5ABB26-0587-4C30-8999-92F81FD0307C}</a:tableStyleId>
              </a:tblPr>
              <a:tblGrid>
                <a:gridCol w="3017520"/>
                <a:gridCol w="1143000"/>
                <a:gridCol w="1234440"/>
                <a:gridCol w="1143000"/>
                <a:gridCol w="1051560"/>
                <a:gridCol w="960120"/>
                <a:gridCol w="1097280"/>
                <a:gridCol w="923544"/>
              </a:tblGrid>
              <a:tr h="384048">
                <a:tc>
                  <a:txBody>
                    <a:bodyPr wrap="square"/>
                    <a:lstStyle/>
                    <a:p>
                      <a:r>
                        <a:rPr sz="1050" b="1">
                          <a:solidFill>
                            <a:srgbClr val="4A5568"/>
                          </a:solidFill>
                          <a:latin typeface="IBM Plex Sans"/>
                        </a:rPr>
                        <a:t>Work</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Role / purpose-aware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PII redaction (India)</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Injection defence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Protects index</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Audit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Measured as pipeline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4A5568"/>
                          </a:solidFill>
                          <a:latin typeface="IBM Plex Sans"/>
                        </a:rPr>
                        <a:t>DPDP-mapped</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Vanilla RAG — Lewis 2020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Inherited RBAC — M365 Copilot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 role only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Privacy-Aware Decoding — Wang 2025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Two-stage RAG privacy — Zhang 2026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Spotlighting / StruQ — 2024</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Llama Guard / Prompt Guard — Meta</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Presidio · hybrid PII — Mishra 2025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 off by default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a:solidFill>
                            <a:srgbClr val="14171A"/>
                          </a:solidFill>
                          <a:latin typeface="IBM Plex Sans"/>
                        </a:rPr>
                        <a:t>SPARSE — Tsai 2026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 noise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a:solidFill>
                            <a:srgbClr val="14171A"/>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050" b="1">
                          <a:solidFill>
                            <a:srgbClr val="2F6F5E"/>
                          </a:solidFill>
                          <a:latin typeface="IBM Plex Sans"/>
                        </a:rPr>
                        <a:t>Copilot Privacy Guard (ours)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 purpose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 + judge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 redacted</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 hash chain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050" b="1">
                          <a:solidFill>
                            <a:srgbClr val="2F6F5E"/>
                          </a:solidFill>
                          <a:latin typeface="IBM Plex Sans"/>
                        </a:rPr>
                        <a: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
        <p:nvSpPr>
          <p:cNvPr id="4" name="TextBox 3"/>
          <p:cNvSpPr txBox="1"/>
          <p:nvPr/>
        </p:nvSpPr>
        <p:spPr>
          <a:xfrm>
            <a:off x="813816" y="5577840"/>
            <a:ext cx="10515600" cy="365760"/>
          </a:xfrm>
          <a:prstGeom prst="rect">
            <a:avLst/>
          </a:prstGeom>
          <a:noFill/>
        </p:spPr>
        <p:txBody>
          <a:bodyPr wrap="square" lIns="0" rIns="0" tIns="0" bIns="0">
            <a:spAutoFit/>
          </a:bodyPr>
          <a:lstStyle/>
          <a:p>
            <a:pPr>
              <a:spcAft>
                <a:spcPts val="400"/>
              </a:spcAft>
            </a:pPr>
            <a:r>
              <a:rPr sz="1100" b="0">
                <a:solidFill>
                  <a:srgbClr val="8A8F8C"/>
                </a:solidFill>
                <a:latin typeface="IBM Plex Sans"/>
              </a:rPr>
              <a:t>✓ addressed · ◐ partially · ✗ not addressed. Positions drawn from Table 1 of the report (32 verified papers).</a:t>
            </a:r>
          </a:p>
        </p:txBody>
      </p:sp>
      <p:sp>
        <p:nvSpPr>
          <p:cNvPr id="5" name="TextBox 4"/>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Experimental setup — one pipeline, twelve configurations</a:t>
            </a:r>
          </a:p>
        </p:txBody>
      </p:sp>
      <p:sp>
        <p:nvSpPr>
          <p:cNvPr id="3" name="Rectangle 2"/>
          <p:cNvSpPr/>
          <p:nvPr/>
        </p:nvSpPr>
        <p:spPr>
          <a:xfrm>
            <a:off x="813816" y="1463040"/>
            <a:ext cx="2514600" cy="38404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4984" y="1691640"/>
            <a:ext cx="21945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CORPUS</a:t>
            </a:r>
          </a:p>
        </p:txBody>
      </p:sp>
      <p:sp>
        <p:nvSpPr>
          <p:cNvPr id="5" name="TextBox 4"/>
          <p:cNvSpPr txBox="1"/>
          <p:nvPr/>
        </p:nvSpPr>
        <p:spPr>
          <a:xfrm>
            <a:off x="1014984" y="2103120"/>
            <a:ext cx="2148840" cy="3017520"/>
          </a:xfrm>
          <a:prstGeom prst="rect">
            <a:avLst/>
          </a:prstGeom>
          <a:noFill/>
        </p:spPr>
        <p:txBody>
          <a:bodyPr wrap="square" lIns="0" rIns="0" tIns="0" bIns="0">
            <a:spAutoFit/>
          </a:bodyPr>
          <a:lstStyle/>
          <a:p>
            <a:pPr>
              <a:spcAft>
                <a:spcPts val="400"/>
              </a:spcAft>
            </a:pPr>
            <a:r>
              <a:rPr sz="1300" b="0">
                <a:solidFill>
                  <a:srgbClr val="14171A"/>
                </a:solidFill>
                <a:latin typeface="IBM Plex Sans"/>
              </a:rPr>
              <a:t>80 synthetic Indian-enterprise docs</a:t>
            </a:r>
          </a:p>
          <a:p>
            <a:pPr>
              <a:spcAft>
                <a:spcPts val="400"/>
              </a:spcAft>
            </a:pPr>
            <a:r>
              <a:rPr sz="1300" b="0">
                <a:solidFill>
                  <a:srgbClr val="14171A"/>
                </a:solidFill>
                <a:latin typeface="IBM Plex Sans"/>
              </a:rPr>
              <a:t>email · HR · tickets · code</a:t>
            </a:r>
          </a:p>
          <a:p>
            <a:pPr>
              <a:spcAft>
                <a:spcPts val="400"/>
              </a:spcAft>
            </a:pPr>
            <a:r>
              <a:rPr sz="1300" b="0">
                <a:solidFill>
                  <a:srgbClr val="14171A"/>
                </a:solidFill>
                <a:latin typeface="IBM Plex Sans"/>
              </a:rPr>
              <a:t>369 labelled PII spans</a:t>
            </a:r>
          </a:p>
          <a:p>
            <a:pPr>
              <a:spcAft>
                <a:spcPts val="400"/>
              </a:spcAft>
            </a:pPr>
            <a:r>
              <a:rPr sz="1300" b="0">
                <a:solidFill>
                  <a:srgbClr val="14171A"/>
                </a:solidFill>
                <a:latin typeface="IBM Plex Sans"/>
              </a:rPr>
              <a:t>4 canary-poisoned docs</a:t>
            </a:r>
          </a:p>
        </p:txBody>
      </p:sp>
      <p:sp>
        <p:nvSpPr>
          <p:cNvPr id="6" name="Rectangle 5"/>
          <p:cNvSpPr/>
          <p:nvPr/>
        </p:nvSpPr>
        <p:spPr>
          <a:xfrm>
            <a:off x="3493008" y="1463040"/>
            <a:ext cx="2514600" cy="38404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94176" y="1691640"/>
            <a:ext cx="21945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QUERIES</a:t>
            </a:r>
          </a:p>
        </p:txBody>
      </p:sp>
      <p:sp>
        <p:nvSpPr>
          <p:cNvPr id="8" name="TextBox 7"/>
          <p:cNvSpPr txBox="1"/>
          <p:nvPr/>
        </p:nvSpPr>
        <p:spPr>
          <a:xfrm>
            <a:off x="3694176" y="2103120"/>
            <a:ext cx="2148840" cy="3017520"/>
          </a:xfrm>
          <a:prstGeom prst="rect">
            <a:avLst/>
          </a:prstGeom>
          <a:noFill/>
        </p:spPr>
        <p:txBody>
          <a:bodyPr wrap="square" lIns="0" rIns="0" tIns="0" bIns="0">
            <a:spAutoFit/>
          </a:bodyPr>
          <a:lstStyle/>
          <a:p>
            <a:pPr>
              <a:spcAft>
                <a:spcPts val="400"/>
              </a:spcAft>
            </a:pPr>
            <a:r>
              <a:rPr sz="1300" b="0">
                <a:solidFill>
                  <a:srgbClr val="14171A"/>
                </a:solidFill>
                <a:latin typeface="IBM Plex Sans"/>
              </a:rPr>
              <a:t>36 queries × 5 personas</a:t>
            </a:r>
          </a:p>
          <a:p>
            <a:pPr>
              <a:spcAft>
                <a:spcPts val="400"/>
              </a:spcAft>
            </a:pPr>
            <a:r>
              <a:rPr sz="1300" b="0">
                <a:solidFill>
                  <a:srgbClr val="14171A"/>
                </a:solidFill>
                <a:latin typeface="IBM Plex Sans"/>
              </a:rPr>
              <a:t>8 unauthorised probes</a:t>
            </a:r>
          </a:p>
          <a:p>
            <a:pPr>
              <a:spcAft>
                <a:spcPts val="400"/>
              </a:spcAft>
            </a:pPr>
            <a:r>
              <a:rPr sz="1300" b="0">
                <a:solidFill>
                  <a:srgbClr val="14171A"/>
                </a:solidFill>
                <a:latin typeface="IBM Plex Sans"/>
              </a:rPr>
              <a:t>8 authorised sensitive · 12 utility</a:t>
            </a:r>
          </a:p>
          <a:p>
            <a:pPr>
              <a:spcAft>
                <a:spcPts val="400"/>
              </a:spcAft>
            </a:pPr>
            <a:r>
              <a:rPr sz="1300" b="0">
                <a:solidFill>
                  <a:srgbClr val="14171A"/>
                </a:solidFill>
                <a:latin typeface="IBM Plex Sans"/>
              </a:rPr>
              <a:t>8 injection (authorised persona)</a:t>
            </a:r>
          </a:p>
        </p:txBody>
      </p:sp>
      <p:sp>
        <p:nvSpPr>
          <p:cNvPr id="9" name="Rectangle 8"/>
          <p:cNvSpPr/>
          <p:nvPr/>
        </p:nvSpPr>
        <p:spPr>
          <a:xfrm>
            <a:off x="6172200" y="1463040"/>
            <a:ext cx="2514600" cy="38404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691640"/>
            <a:ext cx="21945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CONFIGURATIONS</a:t>
            </a:r>
          </a:p>
        </p:txBody>
      </p:sp>
      <p:sp>
        <p:nvSpPr>
          <p:cNvPr id="11" name="TextBox 10"/>
          <p:cNvSpPr txBox="1"/>
          <p:nvPr/>
        </p:nvSpPr>
        <p:spPr>
          <a:xfrm>
            <a:off x="6373368" y="2103120"/>
            <a:ext cx="2148840" cy="3017520"/>
          </a:xfrm>
          <a:prstGeom prst="rect">
            <a:avLst/>
          </a:prstGeom>
          <a:noFill/>
        </p:spPr>
        <p:txBody>
          <a:bodyPr wrap="square" lIns="0" rIns="0" tIns="0" bIns="0">
            <a:spAutoFit/>
          </a:bodyPr>
          <a:lstStyle/>
          <a:p>
            <a:pPr>
              <a:spcAft>
                <a:spcPts val="400"/>
              </a:spcAft>
            </a:pPr>
            <a:r>
              <a:rPr sz="1300" b="0">
                <a:solidFill>
                  <a:srgbClr val="14171A"/>
                </a:solidFill>
                <a:latin typeface="IBM Plex Sans"/>
              </a:rPr>
              <a:t>6 defence-family analogues</a:t>
            </a:r>
          </a:p>
          <a:p>
            <a:pPr>
              <a:spcAft>
                <a:spcPts val="400"/>
              </a:spcAft>
            </a:pPr>
            <a:r>
              <a:rPr sz="1300" b="0">
                <a:solidFill>
                  <a:srgbClr val="14171A"/>
                </a:solidFill>
                <a:latin typeface="IBM Plex Sans"/>
              </a:rPr>
              <a:t>ours + 4 leave-one-out ablations</a:t>
            </a:r>
          </a:p>
          <a:p>
            <a:pPr>
              <a:spcAft>
                <a:spcPts val="400"/>
              </a:spcAft>
            </a:pPr>
            <a:r>
              <a:rPr sz="1300" b="0">
                <a:solidFill>
                  <a:srgbClr val="14171A"/>
                </a:solidFill>
                <a:latin typeface="IBM Plex Sans"/>
              </a:rPr>
              <a:t>+ dense-retrieval variant</a:t>
            </a:r>
          </a:p>
          <a:p>
            <a:pPr>
              <a:spcAft>
                <a:spcPts val="400"/>
              </a:spcAft>
            </a:pPr>
            <a:r>
              <a:rPr sz="1300" b="0">
                <a:solidFill>
                  <a:srgbClr val="14171A"/>
                </a:solidFill>
                <a:latin typeface="IBM Plex Sans"/>
              </a:rPr>
              <a:t>same corpus, retriever, LLM</a:t>
            </a:r>
          </a:p>
        </p:txBody>
      </p:sp>
      <p:sp>
        <p:nvSpPr>
          <p:cNvPr id="12" name="Rectangle 11"/>
          <p:cNvSpPr/>
          <p:nvPr/>
        </p:nvSpPr>
        <p:spPr>
          <a:xfrm>
            <a:off x="8851392" y="1463040"/>
            <a:ext cx="2514600" cy="38404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0" y="1691640"/>
            <a:ext cx="21945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METRICS &amp; MODELS</a:t>
            </a:r>
          </a:p>
        </p:txBody>
      </p:sp>
      <p:sp>
        <p:nvSpPr>
          <p:cNvPr id="14" name="TextBox 13"/>
          <p:cNvSpPr txBox="1"/>
          <p:nvPr/>
        </p:nvSpPr>
        <p:spPr>
          <a:xfrm>
            <a:off x="9052560" y="2103120"/>
            <a:ext cx="2148840" cy="3017520"/>
          </a:xfrm>
          <a:prstGeom prst="rect">
            <a:avLst/>
          </a:prstGeom>
          <a:noFill/>
        </p:spPr>
        <p:txBody>
          <a:bodyPr wrap="square" lIns="0" rIns="0" tIns="0" bIns="0">
            <a:spAutoFit/>
          </a:bodyPr>
          <a:lstStyle/>
          <a:p>
            <a:pPr>
              <a:spcAft>
                <a:spcPts val="400"/>
              </a:spcAft>
            </a:pPr>
            <a:r>
              <a:rPr sz="1300" b="0">
                <a:solidFill>
                  <a:srgbClr val="14171A"/>
                </a:solidFill>
                <a:latin typeface="IBM Plex Sans"/>
              </a:rPr>
              <a:t>9 metrics incl. context &amp; index exposure</a:t>
            </a:r>
          </a:p>
          <a:p>
            <a:pPr>
              <a:spcAft>
                <a:spcPts val="400"/>
              </a:spcAft>
            </a:pPr>
            <a:r>
              <a:rPr sz="1300" b="0">
                <a:solidFill>
                  <a:srgbClr val="14171A"/>
                </a:solidFill>
                <a:latin typeface="IBM Plex Sans"/>
              </a:rPr>
              <a:t>answers: qwen/qwen3.8-27b</a:t>
            </a:r>
          </a:p>
          <a:p>
            <a:pPr>
              <a:spcAft>
                <a:spcPts val="400"/>
              </a:spcAft>
            </a:pPr>
            <a:r>
              <a:rPr sz="1300" b="0">
                <a:solidFill>
                  <a:srgbClr val="14171A"/>
                </a:solidFill>
                <a:latin typeface="IBM Plex Sans"/>
              </a:rPr>
              <a:t>judge: openai/gpt-oss-120b</a:t>
            </a:r>
          </a:p>
          <a:p>
            <a:pPr>
              <a:spcAft>
                <a:spcPts val="400"/>
              </a:spcAft>
            </a:pPr>
            <a:r>
              <a:rPr sz="1300" b="0">
                <a:solidFill>
                  <a:srgbClr val="14171A"/>
                </a:solidFill>
                <a:latin typeface="IBM Plex Sans"/>
              </a:rPr>
              <a:t>Presidio + Prompt Guard 2 as comparators</a:t>
            </a:r>
          </a:p>
        </p:txBody>
      </p:sp>
      <p:sp>
        <p:nvSpPr>
          <p:cNvPr id="15" name="TextBox 14"/>
          <p:cNvSpPr txBox="1"/>
          <p:nvPr/>
        </p:nvSpPr>
        <p:spPr>
          <a:xfrm>
            <a:off x="813816" y="5532120"/>
            <a:ext cx="10515600" cy="365760"/>
          </a:xfrm>
          <a:prstGeom prst="rect">
            <a:avLst/>
          </a:prstGeom>
          <a:noFill/>
        </p:spPr>
        <p:txBody>
          <a:bodyPr wrap="square" lIns="0" rIns="0" tIns="0" bIns="0">
            <a:spAutoFit/>
          </a:bodyPr>
          <a:lstStyle/>
          <a:p>
            <a:pPr>
              <a:spcAft>
                <a:spcPts val="400"/>
              </a:spcAft>
            </a:pPr>
            <a:r>
              <a:rPr sz="1100" b="0">
                <a:solidFill>
                  <a:srgbClr val="8A8F8C"/>
                </a:solidFill>
                <a:latin typeface="IBM Plex Sans"/>
              </a:rPr>
              <a:t>Non-ours rows are simplified analogues of a defence family — not reproductions of the cited papers.</a:t>
            </a:r>
          </a:p>
        </p:txBody>
      </p:sp>
      <p:sp>
        <p:nvSpPr>
          <p:cNvPr id="16" name="TextBox 15"/>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Comparative study — only the defence differs</a:t>
            </a:r>
          </a:p>
        </p:txBody>
      </p:sp>
      <p:graphicFrame>
        <p:nvGraphicFramePr>
          <p:cNvPr id="3" name="Table 2"/>
          <p:cNvGraphicFramePr>
            <a:graphicFrameLocks noGrp="1"/>
          </p:cNvGraphicFramePr>
          <p:nvPr/>
        </p:nvGraphicFramePr>
        <p:xfrm>
          <a:off x="813816" y="1325880"/>
          <a:ext cx="10570464" cy="3072384"/>
        </p:xfrm>
        <a:graphic>
          <a:graphicData uri="http://schemas.openxmlformats.org/drawingml/2006/table">
            <a:tbl>
              <a:tblPr firstRow="0" bandRow="0">
                <a:tableStyleId>{2D5ABB26-0587-4C30-8999-92F81FD0307C}</a:tableStyleId>
              </a:tblPr>
              <a:tblGrid>
                <a:gridCol w="3566160"/>
                <a:gridCol w="1143000"/>
                <a:gridCol w="1234440"/>
                <a:gridCol w="1371600"/>
                <a:gridCol w="1097280"/>
                <a:gridCol w="1051560"/>
                <a:gridCol w="1106424"/>
              </a:tblGrid>
              <a:tr h="384048">
                <a:tc>
                  <a:txBody>
                    <a:bodyPr wrap="square"/>
                    <a:lstStyle/>
                    <a:p>
                      <a:r>
                        <a:rPr sz="1200" b="1">
                          <a:solidFill>
                            <a:srgbClr val="4A5568"/>
                          </a:solidFill>
                          <a:latin typeface="IBM Plex Sans"/>
                        </a:rPr>
                        <a:t>Configuration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PII to LLM</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Over-sharing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Injection exposure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Index PII</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ROUGE-L</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Latency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Vanilla RAG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Inherited RBAC (Copilot-style)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49%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69%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Redaction-only DLP</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+40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Output-side filtering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88%</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+8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Delimiting only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75%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Heuristic screening only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86%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53.8%</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71%</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b="1">
                          <a:solidFill>
                            <a:srgbClr val="2F6F5E"/>
                          </a:solidFill>
                          <a:latin typeface="IBM Plex Sans"/>
                        </a:rPr>
                        <a:t>Copilot Privacy Guard (ours)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35%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+97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
        <p:nvSpPr>
          <p:cNvPr id="4" name="TextBox 3"/>
          <p:cNvSpPr txBox="1"/>
          <p:nvPr/>
        </p:nvSpPr>
        <p:spPr>
          <a:xfrm>
            <a:off x="813816" y="4572000"/>
            <a:ext cx="10515600" cy="1463040"/>
          </a:xfrm>
          <a:prstGeom prst="rect">
            <a:avLst/>
          </a:prstGeom>
          <a:noFill/>
        </p:spPr>
        <p:txBody>
          <a:bodyPr wrap="square" lIns="0" rIns="0" tIns="0" bIns="0">
            <a:spAutoFit/>
          </a:bodyPr>
          <a:lstStyle/>
          <a:p>
            <a:pPr>
              <a:spcAft>
                <a:spcPts val="400"/>
              </a:spcAft>
            </a:pPr>
            <a:r>
              <a:rPr sz="1300" b="0">
                <a:solidFill>
                  <a:srgbClr val="14171A"/>
                </a:solidFill>
                <a:latin typeface="IBM Plex Sans"/>
              </a:rPr>
              <a:t>Inherited RBAC still sends 49% of PII to the provider and lets 59% of poisoned chunks through.</a:t>
            </a:r>
          </a:p>
          <a:p>
            <a:pPr>
              <a:spcAft>
                <a:spcPts val="400"/>
              </a:spcAft>
            </a:pPr>
            <a:r>
              <a:rPr sz="1300" b="0">
                <a:solidFill>
                  <a:srgbClr val="14171A"/>
                </a:solidFill>
                <a:latin typeface="IBM Plex Sans"/>
              </a:rPr>
              <a:t>Redaction-only leaves over-sharing at 51%; output filtering still sends 100% of PII to the provider.</a:t>
            </a:r>
          </a:p>
          <a:p>
            <a:pPr>
              <a:spcAft>
                <a:spcPts val="400"/>
              </a:spcAft>
            </a:pPr>
            <a:r>
              <a:rPr sz="1300" b="0">
                <a:solidFill>
                  <a:srgbClr val="14171A"/>
                </a:solidFill>
                <a:latin typeface="IBM Plex Sans"/>
              </a:rPr>
              <a:t>Only the combined guard closes every exposure — at a utility and latency cost.</a:t>
            </a:r>
          </a:p>
        </p:txBody>
      </p:sp>
      <p:sp>
        <p:nvSpPr>
          <p:cNvPr id="5" name="TextBox 4"/>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Ablation — each control owns one exposure</a:t>
            </a:r>
          </a:p>
        </p:txBody>
      </p:sp>
      <p:graphicFrame>
        <p:nvGraphicFramePr>
          <p:cNvPr id="3" name="Table 2"/>
          <p:cNvGraphicFramePr>
            <a:graphicFrameLocks noGrp="1"/>
          </p:cNvGraphicFramePr>
          <p:nvPr/>
        </p:nvGraphicFramePr>
        <p:xfrm>
          <a:off x="813816" y="1325880"/>
          <a:ext cx="10570464" cy="2688336"/>
        </p:xfrm>
        <a:graphic>
          <a:graphicData uri="http://schemas.openxmlformats.org/drawingml/2006/table">
            <a:tbl>
              <a:tblPr firstRow="0" bandRow="0">
                <a:tableStyleId>{2D5ABB26-0587-4C30-8999-92F81FD0307C}</a:tableStyleId>
              </a:tblPr>
              <a:tblGrid>
                <a:gridCol w="3566160"/>
                <a:gridCol w="1143000"/>
                <a:gridCol w="1234440"/>
                <a:gridCol w="1097280"/>
                <a:gridCol w="1371600"/>
                <a:gridCol w="1051560"/>
                <a:gridCol w="1106424"/>
              </a:tblGrid>
              <a:tr h="384048">
                <a:tc>
                  <a:txBody>
                    <a:bodyPr wrap="square"/>
                    <a:lstStyle/>
                    <a:p>
                      <a:r>
                        <a:rPr sz="1200" b="1">
                          <a:solidFill>
                            <a:srgbClr val="4A5568"/>
                          </a:solidFill>
                          <a:latin typeface="IBM Plex Sans"/>
                        </a:rPr>
                        <a:t>Configuration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PII to LLM</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Over-sharing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Index PII</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Injection exposure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ROUGE-L</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4A5568"/>
                          </a:solidFill>
                          <a:latin typeface="IBM Plex Sans"/>
                        </a:rPr>
                        <a:t>Latency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b="1">
                          <a:solidFill>
                            <a:srgbClr val="2F6F5E"/>
                          </a:solidFill>
                          <a:latin typeface="IBM Plex Sans"/>
                        </a:rPr>
                        <a:t>Copilot Privacy Guard (ours)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35%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b="1">
                          <a:solidFill>
                            <a:srgbClr val="2F6F5E"/>
                          </a:solidFill>
                          <a:latin typeface="IBM Plex Sans"/>
                        </a:rPr>
                        <a:t>+97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ours − access filter</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55.0%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44%</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+121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ours − PII redaction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49%</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+58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ours − redacted index</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36%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+98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ours − LLM judge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35%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+98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384048">
                <a:tc>
                  <a:txBody>
                    <a:bodyPr wrap="square"/>
                    <a:lstStyle/>
                    <a:p>
                      <a:r>
                        <a:rPr sz="1200">
                          <a:solidFill>
                            <a:srgbClr val="14171A"/>
                          </a:solidFill>
                          <a:latin typeface="IBM Plex Sans"/>
                        </a:rPr>
                        <a:t>ours on dense retrieval</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34%</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200">
                          <a:solidFill>
                            <a:srgbClr val="14171A"/>
                          </a:solidFill>
                          <a:latin typeface="IBM Plex Sans"/>
                        </a:rPr>
                        <a:t>+130 ms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
        <p:nvSpPr>
          <p:cNvPr id="4" name="TextBox 3"/>
          <p:cNvSpPr txBox="1"/>
          <p:nvPr/>
        </p:nvSpPr>
        <p:spPr>
          <a:xfrm>
            <a:off x="813816" y="4206240"/>
            <a:ext cx="10515600" cy="1645920"/>
          </a:xfrm>
          <a:prstGeom prst="rect">
            <a:avLst/>
          </a:prstGeom>
          <a:noFill/>
        </p:spPr>
        <p:txBody>
          <a:bodyPr wrap="square" lIns="0" rIns="0" tIns="0" bIns="0">
            <a:spAutoFit/>
          </a:bodyPr>
          <a:lstStyle/>
          <a:p>
            <a:pPr>
              <a:spcAft>
                <a:spcPts val="400"/>
              </a:spcAft>
            </a:pPr>
            <a:r>
              <a:rPr sz="1300" b="0">
                <a:solidFill>
                  <a:srgbClr val="14171A"/>
                </a:solidFill>
                <a:latin typeface="IBM Plex Sans"/>
              </a:rPr>
              <a:t>Drop the access filter → over-sharing returns (55%).</a:t>
            </a:r>
          </a:p>
          <a:p>
            <a:pPr>
              <a:spcAft>
                <a:spcPts val="400"/>
              </a:spcAft>
            </a:pPr>
            <a:r>
              <a:rPr sz="1300" b="0">
                <a:solidFill>
                  <a:srgbClr val="14171A"/>
                </a:solidFill>
                <a:latin typeface="IBM Plex Sans"/>
              </a:rPr>
              <a:t>Drop redaction → 49% of PII reaches the provider and the index holds all of it.</a:t>
            </a:r>
          </a:p>
          <a:p>
            <a:pPr>
              <a:spcAft>
                <a:spcPts val="400"/>
              </a:spcAft>
            </a:pPr>
            <a:r>
              <a:rPr sz="1300" b="0">
                <a:solidFill>
                  <a:srgbClr val="14171A"/>
                </a:solidFill>
                <a:latin typeface="IBM Plex Sans"/>
              </a:rPr>
              <a:t>Drop the redacted index → the index again stores every raw PII value.</a:t>
            </a:r>
          </a:p>
          <a:p>
            <a:pPr>
              <a:spcAft>
                <a:spcPts val="400"/>
              </a:spcAft>
            </a:pPr>
            <a:r>
              <a:rPr sz="1300" b="0">
                <a:solidFill>
                  <a:srgbClr val="14171A"/>
                </a:solidFill>
                <a:latin typeface="IBM Plex Sans"/>
              </a:rPr>
              <a:t>Drop the judge → same corpus metrics, latency +98 ms — its value shows on harder payloads (next slides).</a:t>
            </a:r>
          </a:p>
        </p:txBody>
      </p:sp>
      <p:sp>
        <p:nvSpPr>
          <p:cNvPr id="5" name="TextBox 4"/>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PII detection — head-to-head with Microsoft Presidio</a:t>
            </a:r>
          </a:p>
        </p:txBody>
      </p:sp>
      <p:graphicFrame>
        <p:nvGraphicFramePr>
          <p:cNvPr id="3" name="Chart 2"/>
          <p:cNvGraphicFramePr>
            <a:graphicFrameLocks noGrp="1"/>
          </p:cNvGraphicFramePr>
          <p:nvPr/>
        </p:nvGraphicFramePr>
        <p:xfrm>
          <a:off x="640080" y="1234440"/>
          <a:ext cx="7863840" cy="4480560"/>
        </p:xfrm>
        <a:graphic>
          <a:graphicData uri="http://schemas.openxmlformats.org/drawingml/2006/chart">
            <c:chart xmlns:c="http://schemas.openxmlformats.org/drawingml/2006/chart" r:id="rId2"/>
          </a:graphicData>
        </a:graphic>
      </p:graphicFrame>
      <p:sp>
        <p:nvSpPr>
          <p:cNvPr id="4" name="Rectangle 3"/>
          <p:cNvSpPr/>
          <p:nvPr/>
        </p:nvSpPr>
        <p:spPr>
          <a:xfrm>
            <a:off x="8732520" y="1417320"/>
            <a:ext cx="2697480" cy="411480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0" y="1600200"/>
            <a:ext cx="237744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HELD-OUT F1</a:t>
            </a:r>
          </a:p>
        </p:txBody>
      </p:sp>
      <p:sp>
        <p:nvSpPr>
          <p:cNvPr id="6" name="TextBox 5"/>
          <p:cNvSpPr txBox="1"/>
          <p:nvPr/>
        </p:nvSpPr>
        <p:spPr>
          <a:xfrm>
            <a:off x="8915400" y="2011680"/>
            <a:ext cx="2377440" cy="3291840"/>
          </a:xfrm>
          <a:prstGeom prst="rect">
            <a:avLst/>
          </a:prstGeom>
          <a:noFill/>
        </p:spPr>
        <p:txBody>
          <a:bodyPr wrap="square" lIns="0" rIns="0" tIns="0" bIns="0">
            <a:spAutoFit/>
          </a:bodyPr>
          <a:lstStyle/>
          <a:p>
            <a:pPr>
              <a:spcAft>
                <a:spcPts val="400"/>
              </a:spcAft>
            </a:pPr>
            <a:r>
              <a:rPr sz="1200" b="0">
                <a:solidFill>
                  <a:srgbClr val="14171A"/>
                </a:solidFill>
                <a:latin typeface="IBM Plex Sans"/>
              </a:rPr>
              <a:t>Ours  89.5%</a:t>
            </a:r>
          </a:p>
          <a:p>
            <a:pPr>
              <a:spcAft>
                <a:spcPts val="400"/>
              </a:spcAft>
            </a:pPr>
            <a:r>
              <a:rPr sz="1200" b="0">
                <a:solidFill>
                  <a:srgbClr val="14171A"/>
                </a:solidFill>
                <a:latin typeface="IBM Plex Sans"/>
              </a:rPr>
              <a:t>Presidio  54.3%</a:t>
            </a:r>
          </a:p>
          <a:p>
            <a:pPr>
              <a:spcAft>
                <a:spcPts val="400"/>
              </a:spcAft>
            </a:pPr>
            <a:r>
              <a:rPr sz="1200" b="0">
                <a:solidFill>
                  <a:srgbClr val="14171A"/>
                </a:solidFill>
                <a:latin typeface="IBM Plex Sans"/>
              </a:rPr>
              <a:t>+ India  64.1%</a:t>
            </a:r>
          </a:p>
          <a:p>
            <a:pPr>
              <a:spcAft>
                <a:spcPts val="400"/>
              </a:spcAft>
            </a:pPr>
            <a:r>
              <a:rPr sz="1200" b="0">
                <a:solidFill>
                  <a:srgbClr val="14171A"/>
                </a:solidFill>
                <a:latin typeface="IBM Plex Sans"/>
              </a:rPr>
              <a:t/>
            </a:r>
          </a:p>
          <a:p>
            <a:pPr>
              <a:spcAft>
                <a:spcPts val="400"/>
              </a:spcAft>
            </a:pPr>
            <a:r>
              <a:rPr sz="1200" b="0">
                <a:solidFill>
                  <a:srgbClr val="14171A"/>
                </a:solidFill>
                <a:latin typeface="IBM Plex Sans"/>
              </a:rPr>
              <a:t>No Presidio recognizer for IFSC, UPI or ₹ salary; Aadhaar/PAN ship disabled.</a:t>
            </a:r>
          </a:p>
          <a:p>
            <a:pPr>
              <a:spcAft>
                <a:spcPts val="400"/>
              </a:spcAft>
            </a:pPr>
            <a:r>
              <a:rPr sz="1200" b="0">
                <a:solidFill>
                  <a:srgbClr val="14171A"/>
                </a:solidFill>
                <a:latin typeface="IBM Plex Sans"/>
              </a:rPr>
              <a:t/>
            </a:r>
          </a:p>
          <a:p>
            <a:pPr>
              <a:spcAft>
                <a:spcPts val="400"/>
              </a:spcAft>
            </a:pPr>
            <a:r>
              <a:rPr sz="1200" b="0">
                <a:solidFill>
                  <a:srgbClr val="14171A"/>
                </a:solidFill>
                <a:latin typeface="IBM Plex Sans"/>
              </a:rPr>
              <a:t>Presidio wins on spaced mobiles and written dates — our gaps.</a:t>
            </a:r>
          </a:p>
        </p:txBody>
      </p:sp>
      <p:sp>
        <p:nvSpPr>
          <p:cNvPr id="7" name="TextBox 6"/>
          <p:cNvSpPr txBox="1"/>
          <p:nvPr/>
        </p:nvSpPr>
        <p:spPr>
          <a:xfrm>
            <a:off x="813816" y="5806440"/>
            <a:ext cx="10515600" cy="274320"/>
          </a:xfrm>
          <a:prstGeom prst="rect">
            <a:avLst/>
          </a:prstGeom>
          <a:noFill/>
        </p:spPr>
        <p:txBody>
          <a:bodyPr wrap="square" lIns="0" rIns="0" tIns="0" bIns="0">
            <a:spAutoFit/>
          </a:bodyPr>
          <a:lstStyle/>
          <a:p>
            <a:pPr>
              <a:spcAft>
                <a:spcPts val="400"/>
              </a:spcAft>
            </a:pPr>
            <a:r>
              <a:rPr sz="1050" b="0">
                <a:solidFill>
                  <a:srgbClr val="8A8F8C"/>
                </a:solidFill>
                <a:latin typeface="IBM Plex Sans"/>
              </a:rPr>
              <a:t>Held-out set: 32 sentences in formats the corpus generator never produces. Recall per entity type.</a:t>
            </a:r>
          </a:p>
        </p:txBody>
      </p:sp>
      <p:sp>
        <p:nvSpPr>
          <p:cNvPr id="8" name="TextBox 7"/>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Injection detection — heuristic vs LLM judge vs Prompt Guard 2</a:t>
            </a:r>
          </a:p>
        </p:txBody>
      </p:sp>
      <p:graphicFrame>
        <p:nvGraphicFramePr>
          <p:cNvPr id="3" name="Chart 2"/>
          <p:cNvGraphicFramePr>
            <a:graphicFrameLocks noGrp="1"/>
          </p:cNvGraphicFramePr>
          <p:nvPr/>
        </p:nvGraphicFramePr>
        <p:xfrm>
          <a:off x="640080" y="1234440"/>
          <a:ext cx="7863840" cy="4480560"/>
        </p:xfrm>
        <a:graphic>
          <a:graphicData uri="http://schemas.openxmlformats.org/drawingml/2006/chart">
            <c:chart xmlns:c="http://schemas.openxmlformats.org/drawingml/2006/chart" r:id="rId2"/>
          </a:graphicData>
        </a:graphic>
      </p:graphicFrame>
      <p:sp>
        <p:nvSpPr>
          <p:cNvPr id="4" name="Rectangle 3"/>
          <p:cNvSpPr/>
          <p:nvPr/>
        </p:nvSpPr>
        <p:spPr>
          <a:xfrm>
            <a:off x="8732520" y="1417320"/>
            <a:ext cx="2697480" cy="411480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15400" y="1600200"/>
            <a:ext cx="237744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FALSE POSITIVES</a:t>
            </a:r>
          </a:p>
        </p:txBody>
      </p:sp>
      <p:sp>
        <p:nvSpPr>
          <p:cNvPr id="6" name="TextBox 5"/>
          <p:cNvSpPr txBox="1"/>
          <p:nvPr/>
        </p:nvSpPr>
        <p:spPr>
          <a:xfrm>
            <a:off x="8915400" y="2011680"/>
            <a:ext cx="2377440" cy="3291840"/>
          </a:xfrm>
          <a:prstGeom prst="rect">
            <a:avLst/>
          </a:prstGeom>
          <a:noFill/>
        </p:spPr>
        <p:txBody>
          <a:bodyPr wrap="square" lIns="0" rIns="0" tIns="0" bIns="0">
            <a:spAutoFit/>
          </a:bodyPr>
          <a:lstStyle/>
          <a:p>
            <a:pPr>
              <a:spcAft>
                <a:spcPts val="400"/>
              </a:spcAft>
            </a:pPr>
            <a:r>
              <a:rPr sz="1200" b="0">
                <a:solidFill>
                  <a:srgbClr val="14171A"/>
                </a:solidFill>
                <a:latin typeface="IBM Plex Sans"/>
              </a:rPr>
              <a:t>on 8 hard negatives:</a:t>
            </a:r>
          </a:p>
          <a:p>
            <a:pPr>
              <a:spcAft>
                <a:spcPts val="400"/>
              </a:spcAft>
            </a:pPr>
            <a:r>
              <a:rPr sz="1200" b="0">
                <a:solidFill>
                  <a:srgbClr val="14171A"/>
                </a:solidFill>
                <a:latin typeface="IBM Plex Sans"/>
              </a:rPr>
              <a:t>Heuristic  62%</a:t>
            </a:r>
          </a:p>
          <a:p>
            <a:pPr>
              <a:spcAft>
                <a:spcPts val="400"/>
              </a:spcAft>
            </a:pPr>
            <a:r>
              <a:rPr sz="1200" b="0">
                <a:solidFill>
                  <a:srgbClr val="14171A"/>
                </a:solidFill>
                <a:latin typeface="IBM Plex Sans"/>
              </a:rPr>
              <a:t>LLM judge  0%</a:t>
            </a:r>
          </a:p>
          <a:p>
            <a:pPr>
              <a:spcAft>
                <a:spcPts val="400"/>
              </a:spcAft>
            </a:pPr>
            <a:r>
              <a:rPr sz="1200" b="0">
                <a:solidFill>
                  <a:srgbClr val="14171A"/>
                </a:solidFill>
                <a:latin typeface="IBM Plex Sans"/>
              </a:rPr>
              <a:t>Combined (ours)  62%</a:t>
            </a:r>
          </a:p>
          <a:p>
            <a:pPr>
              <a:spcAft>
                <a:spcPts val="400"/>
              </a:spcAft>
            </a:pPr>
            <a:r>
              <a:rPr sz="1200" b="0">
                <a:solidFill>
                  <a:srgbClr val="14171A"/>
                </a:solidFill>
                <a:latin typeface="IBM Plex Sans"/>
              </a:rPr>
              <a:t>Prompt Guard 2 (Meta)  12%</a:t>
            </a:r>
          </a:p>
          <a:p>
            <a:pPr>
              <a:spcAft>
                <a:spcPts val="400"/>
              </a:spcAft>
            </a:pPr>
            <a:r>
              <a:rPr sz="1200" b="0">
                <a:solidFill>
                  <a:srgbClr val="14171A"/>
                </a:solidFill>
                <a:latin typeface="IBM Plex Sans"/>
              </a:rPr>
              <a:t/>
            </a:r>
          </a:p>
          <a:p>
            <a:pPr>
              <a:spcAft>
                <a:spcPts val="400"/>
              </a:spcAft>
            </a:pPr>
            <a:r>
              <a:rPr sz="1200" b="0">
                <a:solidFill>
                  <a:srgbClr val="14171A"/>
                </a:solidFill>
                <a:latin typeface="IBM Plex Sans"/>
              </a:rPr>
              <a:t>The judge alone: 100% detection, 0% false positives. OR-ing in the heuristic inherits its false positives.</a:t>
            </a:r>
          </a:p>
        </p:txBody>
      </p:sp>
      <p:sp>
        <p:nvSpPr>
          <p:cNvPr id="7" name="TextBox 6"/>
          <p:cNvSpPr txBox="1"/>
          <p:nvPr/>
        </p:nvSpPr>
        <p:spPr>
          <a:xfrm>
            <a:off x="813816" y="5806440"/>
            <a:ext cx="10515600" cy="274320"/>
          </a:xfrm>
          <a:prstGeom prst="rect">
            <a:avLst/>
          </a:prstGeom>
          <a:noFill/>
        </p:spPr>
        <p:txBody>
          <a:bodyPr wrap="square" lIns="0" rIns="0" tIns="0" bIns="0">
            <a:spAutoFit/>
          </a:bodyPr>
          <a:lstStyle/>
          <a:p>
            <a:pPr>
              <a:spcAft>
                <a:spcPts val="400"/>
              </a:spcAft>
            </a:pPr>
            <a:r>
              <a:rPr sz="1050" b="0">
                <a:solidFill>
                  <a:srgbClr val="8A8F8C"/>
                </a:solidFill>
                <a:latin typeface="IBM Plex Sans"/>
              </a:rPr>
              <a:t>24 payloads (6 families × 4) in a benign ticket; 40 clean docs + 8 hard negatives (security reminders, release notes).</a:t>
            </a:r>
          </a:p>
        </p:txBody>
      </p:sp>
      <p:sp>
        <p:nvSpPr>
          <p:cNvPr id="8" name="TextBox 7"/>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Compliance as code — clauses, DPIA, assurance checklist</a:t>
            </a:r>
          </a:p>
        </p:txBody>
      </p:sp>
      <p:sp>
        <p:nvSpPr>
          <p:cNvPr id="3" name="Rectangle 2"/>
          <p:cNvSpPr/>
          <p:nvPr/>
        </p:nvSpPr>
        <p:spPr>
          <a:xfrm>
            <a:off x="813816" y="1325880"/>
            <a:ext cx="3429000" cy="45262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96696" y="1481328"/>
            <a:ext cx="31089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CLAUSE MAP</a:t>
            </a:r>
          </a:p>
        </p:txBody>
      </p:sp>
      <p:sp>
        <p:nvSpPr>
          <p:cNvPr id="5" name="TextBox 4"/>
          <p:cNvSpPr txBox="1"/>
          <p:nvPr/>
        </p:nvSpPr>
        <p:spPr>
          <a:xfrm>
            <a:off x="996696" y="1847088"/>
            <a:ext cx="3108960" cy="3931920"/>
          </a:xfrm>
          <a:prstGeom prst="rect">
            <a:avLst/>
          </a:prstGeom>
          <a:noFill/>
        </p:spPr>
        <p:txBody>
          <a:bodyPr wrap="square" lIns="0" rIns="0" tIns="0" bIns="0">
            <a:spAutoFit/>
          </a:bodyPr>
          <a:lstStyle/>
          <a:p>
            <a:pPr>
              <a:spcAft>
                <a:spcPts val="400"/>
              </a:spcAft>
            </a:pPr>
            <a:r>
              <a:rPr sz="1050" b="0">
                <a:solidFill>
                  <a:srgbClr val="14171A"/>
                </a:solidFill>
                <a:latin typeface="IBM Plex Sans"/>
              </a:rPr>
              <a:t>24 clauses, each verified against the source text</a:t>
            </a:r>
          </a:p>
          <a:p>
            <a:pPr>
              <a:spcAft>
                <a:spcPts val="400"/>
              </a:spcAft>
            </a:pPr>
            <a:r>
              <a:rPr sz="1050" b="0">
                <a:solidFill>
                  <a:srgbClr val="14171A"/>
                </a:solidFill>
                <a:latin typeface="IBM Plex Sans"/>
              </a:rPr>
              <a:t>DPDP Act 2023: §4, §6(1), §7(i), §8(1), §8(5), §8(6), §10(2)(c)</a:t>
            </a:r>
          </a:p>
          <a:p>
            <a:pPr>
              <a:spcAft>
                <a:spcPts val="400"/>
              </a:spcAft>
            </a:pPr>
            <a:r>
              <a:rPr sz="1050" b="0">
                <a:solidFill>
                  <a:srgbClr val="14171A"/>
                </a:solidFill>
                <a:latin typeface="IBM Plex Sans"/>
              </a:rPr>
              <a:t>DPDP Rules 2025: Rule 6, Rule 7, Rule 13</a:t>
            </a:r>
          </a:p>
          <a:p>
            <a:pPr>
              <a:spcAft>
                <a:spcPts val="400"/>
              </a:spcAft>
            </a:pPr>
            <a:r>
              <a:rPr sz="1050" b="0">
                <a:solidFill>
                  <a:srgbClr val="14171A"/>
                </a:solidFill>
                <a:latin typeface="IBM Plex Sans"/>
              </a:rPr>
              <a:t>GDPR: Art. 5(1)(b), Art. 5(1)(c), Art. 5(1)(f), Art. 5(2), Art. 25, Art. 30, Art. 32, Art. 35</a:t>
            </a:r>
          </a:p>
          <a:p>
            <a:pPr>
              <a:spcAft>
                <a:spcPts val="400"/>
              </a:spcAft>
            </a:pPr>
            <a:r>
              <a:rPr sz="1050" b="0">
                <a:solidFill>
                  <a:srgbClr val="14171A"/>
                </a:solidFill>
                <a:latin typeface="IBM Plex Sans"/>
              </a:rPr>
              <a:t>EU AI Act: Art. 12, Art. 15, Annex III(4)</a:t>
            </a:r>
          </a:p>
          <a:p>
            <a:pPr>
              <a:spcAft>
                <a:spcPts val="400"/>
              </a:spcAft>
            </a:pPr>
            <a:r>
              <a:rPr sz="1050" b="0">
                <a:solidFill>
                  <a:srgbClr val="14171A"/>
                </a:solidFill>
                <a:latin typeface="IBM Plex Sans"/>
              </a:rPr>
              <a:t>OWASP LLM Top 10 (2025): LLM01, LLM02, LLM08</a:t>
            </a:r>
          </a:p>
        </p:txBody>
      </p:sp>
      <p:sp>
        <p:nvSpPr>
          <p:cNvPr id="6" name="Rectangle 5"/>
          <p:cNvSpPr/>
          <p:nvPr/>
        </p:nvSpPr>
        <p:spPr>
          <a:xfrm>
            <a:off x="4379976" y="1325880"/>
            <a:ext cx="3429000" cy="45262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481328"/>
            <a:ext cx="31089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DPIA REGISTER</a:t>
            </a:r>
          </a:p>
        </p:txBody>
      </p:sp>
      <p:sp>
        <p:nvSpPr>
          <p:cNvPr id="8" name="TextBox 7"/>
          <p:cNvSpPr txBox="1"/>
          <p:nvPr/>
        </p:nvSpPr>
        <p:spPr>
          <a:xfrm>
            <a:off x="4562856" y="1847088"/>
            <a:ext cx="3108960" cy="3931920"/>
          </a:xfrm>
          <a:prstGeom prst="rect">
            <a:avLst/>
          </a:prstGeom>
          <a:noFill/>
        </p:spPr>
        <p:txBody>
          <a:bodyPr wrap="square" lIns="0" rIns="0" tIns="0" bIns="0">
            <a:spAutoFit/>
          </a:bodyPr>
          <a:lstStyle/>
          <a:p>
            <a:pPr>
              <a:spcAft>
                <a:spcPts val="400"/>
              </a:spcAft>
            </a:pPr>
            <a:r>
              <a:rPr sz="1050" b="0">
                <a:solidFill>
                  <a:srgbClr val="14171A"/>
                </a:solidFill>
                <a:latin typeface="IBM Plex Sans"/>
              </a:rPr>
              <a:t>7 risks · likelihood × impact</a:t>
            </a:r>
          </a:p>
          <a:p>
            <a:pPr>
              <a:spcAft>
                <a:spcPts val="400"/>
              </a:spcAft>
            </a:pPr>
            <a:r>
              <a:rPr sz="1050" b="0">
                <a:solidFill>
                  <a:srgbClr val="14171A"/>
                </a:solidFill>
                <a:latin typeface="IBM Plex Sans"/>
              </a:rPr>
              <a:t>R1 Permission over-sharing: 16 → 4</a:t>
            </a:r>
          </a:p>
          <a:p>
            <a:pPr>
              <a:spcAft>
                <a:spcPts val="400"/>
              </a:spcAft>
            </a:pPr>
            <a:r>
              <a:rPr sz="1050" b="0">
                <a:solidFill>
                  <a:srgbClr val="14171A"/>
                </a:solidFill>
                <a:latin typeface="IBM Plex Sans"/>
              </a:rPr>
              <a:t>R2 Prompt and context leakage (in: 20 → 6</a:t>
            </a:r>
          </a:p>
          <a:p>
            <a:pPr>
              <a:spcAft>
                <a:spcPts val="400"/>
              </a:spcAft>
            </a:pPr>
            <a:r>
              <a:rPr sz="1050" b="0">
                <a:solidFill>
                  <a:srgbClr val="14171A"/>
                </a:solidFill>
                <a:latin typeface="IBM Plex Sans"/>
              </a:rPr>
              <a:t>R3 Indirect prompt injection: 16 → 8</a:t>
            </a:r>
          </a:p>
          <a:p>
            <a:pPr>
              <a:spcAft>
                <a:spcPts val="400"/>
              </a:spcAft>
            </a:pPr>
            <a:r>
              <a:rPr sz="1050" b="0">
                <a:solidFill>
                  <a:srgbClr val="14171A"/>
                </a:solidFill>
                <a:latin typeface="IBM Plex Sans"/>
              </a:rPr>
              <a:t>R4 Embedding / index inversion: 12 → 4</a:t>
            </a:r>
          </a:p>
          <a:p>
            <a:pPr>
              <a:spcAft>
                <a:spcPts val="400"/>
              </a:spcAft>
            </a:pPr>
            <a:r>
              <a:rPr sz="1050" b="0">
                <a:solidFill>
                  <a:srgbClr val="14171A"/>
                </a:solidFill>
                <a:latin typeface="IBM Plex Sans"/>
              </a:rPr>
              <a:t>R5 Fine-tuning memorisation: 4 → 4</a:t>
            </a:r>
          </a:p>
          <a:p>
            <a:pPr>
              <a:spcAft>
                <a:spcPts val="400"/>
              </a:spcAft>
            </a:pPr>
            <a:r>
              <a:rPr sz="1050" b="0">
                <a:solidFill>
                  <a:srgbClr val="14171A"/>
                </a:solidFill>
                <a:latin typeface="IBM Plex Sans"/>
              </a:rPr>
              <a:t>R6 Sensitive-attribute inference : 12 → 6</a:t>
            </a:r>
          </a:p>
          <a:p>
            <a:pPr>
              <a:spcAft>
                <a:spcPts val="400"/>
              </a:spcAft>
            </a:pPr>
            <a:r>
              <a:rPr sz="1050" b="0">
                <a:solidFill>
                  <a:srgbClr val="14171A"/>
                </a:solidFill>
                <a:latin typeface="IBM Plex Sans"/>
              </a:rPr>
              <a:t>R7 Audit-trail tampering: 8 → 3</a:t>
            </a:r>
          </a:p>
        </p:txBody>
      </p:sp>
      <p:sp>
        <p:nvSpPr>
          <p:cNvPr id="9" name="Rectangle 8"/>
          <p:cNvSpPr/>
          <p:nvPr/>
        </p:nvSpPr>
        <p:spPr>
          <a:xfrm>
            <a:off x="7946136" y="1325880"/>
            <a:ext cx="3429000" cy="4526280"/>
          </a:xfrm>
          <a:prstGeom prst="rect">
            <a:avLst/>
          </a:prstGeom>
          <a:solidFill>
            <a:srgbClr val="EFEDE6"/>
          </a:solidFill>
          <a:ln w="9525">
            <a:solidFill>
              <a:srgbClr val="E3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9015" y="1481328"/>
            <a:ext cx="3108960" cy="274320"/>
          </a:xfrm>
          <a:prstGeom prst="rect">
            <a:avLst/>
          </a:prstGeom>
          <a:noFill/>
        </p:spPr>
        <p:txBody>
          <a:bodyPr wrap="square" lIns="0" rIns="0" tIns="0" bIns="0">
            <a:spAutoFit/>
          </a:bodyPr>
          <a:lstStyle/>
          <a:p>
            <a:pPr>
              <a:spcAft>
                <a:spcPts val="400"/>
              </a:spcAft>
            </a:pPr>
            <a:r>
              <a:rPr sz="1200" b="1">
                <a:solidFill>
                  <a:srgbClr val="2F6F5E"/>
                </a:solidFill>
                <a:latin typeface="IBM Plex Mono"/>
              </a:rPr>
              <a:t>ASSURANCE CHECKLIST</a:t>
            </a:r>
          </a:p>
        </p:txBody>
      </p:sp>
      <p:sp>
        <p:nvSpPr>
          <p:cNvPr id="11" name="TextBox 10"/>
          <p:cNvSpPr txBox="1"/>
          <p:nvPr/>
        </p:nvSpPr>
        <p:spPr>
          <a:xfrm>
            <a:off x="8129015" y="1847088"/>
            <a:ext cx="3108960" cy="3931920"/>
          </a:xfrm>
          <a:prstGeom prst="rect">
            <a:avLst/>
          </a:prstGeom>
          <a:noFill/>
        </p:spPr>
        <p:txBody>
          <a:bodyPr wrap="square" lIns="0" rIns="0" tIns="0" bIns="0">
            <a:spAutoFit/>
          </a:bodyPr>
          <a:lstStyle/>
          <a:p>
            <a:pPr>
              <a:spcAft>
                <a:spcPts val="400"/>
              </a:spcAft>
            </a:pPr>
            <a:r>
              <a:rPr sz="1000" b="0">
                <a:solidFill>
                  <a:srgbClr val="14171A"/>
                </a:solidFill>
                <a:latin typeface="IBM Plex Sans"/>
              </a:rPr>
              <a:t>12 / 13 executable checks pass</a:t>
            </a:r>
          </a:p>
          <a:p>
            <a:pPr>
              <a:spcAft>
                <a:spcPts val="400"/>
              </a:spcAft>
            </a:pPr>
            <a:r>
              <a:rPr sz="1000" b="0">
                <a:solidFill>
                  <a:srgbClr val="14171A"/>
                </a:solidFill>
                <a:latin typeface="IBM Plex Sans"/>
              </a:rPr>
              <a:t>A01 PASS</a:t>
            </a:r>
          </a:p>
          <a:p>
            <a:pPr>
              <a:spcAft>
                <a:spcPts val="400"/>
              </a:spcAft>
            </a:pPr>
            <a:r>
              <a:rPr sz="1000" b="0">
                <a:solidFill>
                  <a:srgbClr val="14171A"/>
                </a:solidFill>
                <a:latin typeface="IBM Plex Sans"/>
              </a:rPr>
              <a:t>A02 PASS</a:t>
            </a:r>
          </a:p>
          <a:p>
            <a:pPr>
              <a:spcAft>
                <a:spcPts val="400"/>
              </a:spcAft>
            </a:pPr>
            <a:r>
              <a:rPr sz="1000" b="0">
                <a:solidFill>
                  <a:srgbClr val="14171A"/>
                </a:solidFill>
                <a:latin typeface="IBM Plex Sans"/>
              </a:rPr>
              <a:t>A03 PASS</a:t>
            </a:r>
          </a:p>
          <a:p>
            <a:pPr>
              <a:spcAft>
                <a:spcPts val="400"/>
              </a:spcAft>
            </a:pPr>
            <a:r>
              <a:rPr sz="1000" b="0">
                <a:solidFill>
                  <a:srgbClr val="14171A"/>
                </a:solidFill>
                <a:latin typeface="IBM Plex Sans"/>
              </a:rPr>
              <a:t>A04 PASS</a:t>
            </a:r>
          </a:p>
          <a:p>
            <a:pPr>
              <a:spcAft>
                <a:spcPts val="400"/>
              </a:spcAft>
            </a:pPr>
            <a:r>
              <a:rPr sz="1000" b="0">
                <a:solidFill>
                  <a:srgbClr val="14171A"/>
                </a:solidFill>
                <a:latin typeface="IBM Plex Sans"/>
              </a:rPr>
              <a:t>A05 PASS</a:t>
            </a:r>
          </a:p>
          <a:p>
            <a:pPr>
              <a:spcAft>
                <a:spcPts val="400"/>
              </a:spcAft>
            </a:pPr>
            <a:r>
              <a:rPr sz="1000" b="0">
                <a:solidFill>
                  <a:srgbClr val="14171A"/>
                </a:solidFill>
                <a:latin typeface="IBM Plex Sans"/>
              </a:rPr>
              <a:t>A06 PASS</a:t>
            </a:r>
          </a:p>
          <a:p>
            <a:pPr>
              <a:spcAft>
                <a:spcPts val="400"/>
              </a:spcAft>
            </a:pPr>
            <a:r>
              <a:rPr sz="1000" b="0">
                <a:solidFill>
                  <a:srgbClr val="14171A"/>
                </a:solidFill>
                <a:latin typeface="IBM Plex Sans"/>
              </a:rPr>
              <a:t>A07 PASS</a:t>
            </a:r>
          </a:p>
          <a:p>
            <a:pPr>
              <a:spcAft>
                <a:spcPts val="400"/>
              </a:spcAft>
            </a:pPr>
            <a:r>
              <a:rPr sz="1000" b="0">
                <a:solidFill>
                  <a:srgbClr val="14171A"/>
                </a:solidFill>
                <a:latin typeface="IBM Plex Sans"/>
              </a:rPr>
              <a:t>A08 PASS</a:t>
            </a:r>
          </a:p>
          <a:p>
            <a:pPr>
              <a:spcAft>
                <a:spcPts val="400"/>
              </a:spcAft>
            </a:pPr>
            <a:r>
              <a:rPr sz="1000" b="0">
                <a:solidFill>
                  <a:srgbClr val="14171A"/>
                </a:solidFill>
                <a:latin typeface="IBM Plex Sans"/>
              </a:rPr>
              <a:t>A09 PASS</a:t>
            </a:r>
          </a:p>
          <a:p>
            <a:pPr>
              <a:spcAft>
                <a:spcPts val="400"/>
              </a:spcAft>
            </a:pPr>
            <a:r>
              <a:rPr sz="1000" b="0">
                <a:solidFill>
                  <a:srgbClr val="14171A"/>
                </a:solidFill>
                <a:latin typeface="IBM Plex Sans"/>
              </a:rPr>
              <a:t>A10 PASS</a:t>
            </a:r>
          </a:p>
          <a:p>
            <a:pPr>
              <a:spcAft>
                <a:spcPts val="400"/>
              </a:spcAft>
            </a:pPr>
            <a:r>
              <a:rPr sz="1000" b="0">
                <a:solidFill>
                  <a:srgbClr val="14171A"/>
                </a:solidFill>
                <a:latin typeface="IBM Plex Sans"/>
              </a:rPr>
              <a:t>A11 PASS</a:t>
            </a:r>
          </a:p>
          <a:p>
            <a:pPr>
              <a:spcAft>
                <a:spcPts val="400"/>
              </a:spcAft>
            </a:pPr>
            <a:r>
              <a:rPr sz="1000" b="0">
                <a:solidFill>
                  <a:srgbClr val="14171A"/>
                </a:solidFill>
                <a:latin typeface="IBM Plex Sans"/>
              </a:rPr>
              <a:t>A12 FAIL</a:t>
            </a:r>
          </a:p>
          <a:p>
            <a:pPr>
              <a:spcAft>
                <a:spcPts val="400"/>
              </a:spcAft>
            </a:pPr>
            <a:r>
              <a:rPr sz="1000" b="0">
                <a:solidFill>
                  <a:srgbClr val="14171A"/>
                </a:solidFill>
                <a:latin typeface="IBM Plex Sans"/>
              </a:rPr>
              <a:t>A13 PASS</a:t>
            </a:r>
          </a:p>
        </p:txBody>
      </p:sp>
      <p:sp>
        <p:nvSpPr>
          <p:cNvPr id="12" name="TextBox 11"/>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Appendix A — replay of documented incidents</a:t>
            </a:r>
          </a:p>
        </p:txBody>
      </p:sp>
      <p:graphicFrame>
        <p:nvGraphicFramePr>
          <p:cNvPr id="3" name="Table 2"/>
          <p:cNvGraphicFramePr>
            <a:graphicFrameLocks noGrp="1"/>
          </p:cNvGraphicFramePr>
          <p:nvPr/>
        </p:nvGraphicFramePr>
        <p:xfrm>
          <a:off x="813816" y="1325880"/>
          <a:ext cx="10570464" cy="2011680"/>
        </p:xfrm>
        <a:graphic>
          <a:graphicData uri="http://schemas.openxmlformats.org/drawingml/2006/table">
            <a:tbl>
              <a:tblPr firstRow="0" bandRow="0">
                <a:tableStyleId>{2D5ABB26-0587-4C30-8999-92F81FD0307C}</a:tableStyleId>
              </a:tblPr>
              <a:tblGrid>
                <a:gridCol w="3108960"/>
                <a:gridCol w="1828800"/>
                <a:gridCol w="1325880"/>
                <a:gridCol w="1097280"/>
                <a:gridCol w="1051560"/>
                <a:gridCol w="731520"/>
                <a:gridCol w="1426464"/>
              </a:tblGrid>
              <a:tr h="502920">
                <a:tc>
                  <a:txBody>
                    <a:bodyPr wrap="square"/>
                    <a:lstStyle/>
                    <a:p>
                      <a:r>
                        <a:rPr sz="1150" b="1">
                          <a:solidFill>
                            <a:srgbClr val="4A5568"/>
                          </a:solidFill>
                          <a:latin typeface="IBM Plex Sans"/>
                        </a:rPr>
                        <a:t>Incident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Exposure point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Injection screening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PII redaction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Access filter</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Audit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Residual gap</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502920">
                <a:tc>
                  <a:txBody>
                    <a:bodyPr wrap="square"/>
                    <a:lstStyle/>
                    <a:p>
                      <a:r>
                        <a:rPr sz="1150">
                          <a:solidFill>
                            <a:srgbClr val="14171A"/>
                          </a:solidFill>
                          <a:latin typeface="IBM Plex Sans"/>
                        </a:rPr>
                        <a:t>EchoLeak — M365 Copilot (CVE-2025-32711)</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retrieval → inference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Partially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Partially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No</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Yes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output egress allow-list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502920">
                <a:tc>
                  <a:txBody>
                    <a:bodyPr wrap="square"/>
                    <a:lstStyle/>
                    <a:p>
                      <a:r>
                        <a:rPr sz="1150">
                          <a:solidFill>
                            <a:srgbClr val="14171A"/>
                          </a:solidFill>
                          <a:latin typeface="IBM Plex Sans"/>
                        </a:rPr>
                        <a:t>Slack AI indirect injection (2024)</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cross-zone retrieval</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Yes (likely)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Partially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Partially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Yes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secret recognizers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502920">
                <a:tc>
                  <a:txBody>
                    <a:bodyPr wrap="square"/>
                    <a:lstStyle/>
                    <a:p>
                      <a:r>
                        <a:rPr sz="1150">
                          <a:solidFill>
                            <a:srgbClr val="14171A"/>
                          </a:solidFill>
                          <a:latin typeface="IBM Plex Sans"/>
                        </a:rPr>
                        <a:t>Samsung → ChatGPT (2023)</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prompt → external processor</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No</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Partially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No</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Yes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non-personal confidential data</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
        <p:nvSpPr>
          <p:cNvPr id="4" name="TextBox 3"/>
          <p:cNvSpPr txBox="1"/>
          <p:nvPr/>
        </p:nvSpPr>
        <p:spPr>
          <a:xfrm>
            <a:off x="813816" y="3840480"/>
            <a:ext cx="10515600" cy="1371600"/>
          </a:xfrm>
          <a:prstGeom prst="rect">
            <a:avLst/>
          </a:prstGeom>
          <a:noFill/>
        </p:spPr>
        <p:txBody>
          <a:bodyPr wrap="square" lIns="0" rIns="0" tIns="0" bIns="0">
            <a:spAutoFit/>
          </a:bodyPr>
          <a:lstStyle/>
          <a:p>
            <a:pPr>
              <a:spcAft>
                <a:spcPts val="400"/>
              </a:spcAft>
            </a:pPr>
            <a:r>
              <a:rPr sz="1300" b="0">
                <a:solidFill>
                  <a:srgbClr val="14171A"/>
                </a:solidFill>
                <a:latin typeface="IBM Plex Sans"/>
              </a:rPr>
              <a:t>Two of three incidents are injection through retrieval; all three end with data leaving through the model's input or output channel. No single control stops any of them — the case for layered, audited middleware. Sources and root-cause chains: docs/INCIDENTS.md.</a:t>
            </a:r>
          </a:p>
        </p:txBody>
      </p:sp>
      <p:sp>
        <p:nvSpPr>
          <p:cNvPr id="5" name="TextBox 4"/>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Appendix B — reported results vs ours (context only)</a:t>
            </a:r>
          </a:p>
        </p:txBody>
      </p:sp>
      <p:graphicFrame>
        <p:nvGraphicFramePr>
          <p:cNvPr id="3" name="Table 2"/>
          <p:cNvGraphicFramePr>
            <a:graphicFrameLocks noGrp="1"/>
          </p:cNvGraphicFramePr>
          <p:nvPr/>
        </p:nvGraphicFramePr>
        <p:xfrm>
          <a:off x="813816" y="1325880"/>
          <a:ext cx="10570464" cy="2743200"/>
        </p:xfrm>
        <a:graphic>
          <a:graphicData uri="http://schemas.openxmlformats.org/drawingml/2006/table">
            <a:tbl>
              <a:tblPr firstRow="0" bandRow="0">
                <a:tableStyleId>{2D5ABB26-0587-4C30-8999-92F81FD0307C}</a:tableStyleId>
              </a:tblPr>
              <a:tblGrid>
                <a:gridCol w="2743200"/>
                <a:gridCol w="2468880"/>
                <a:gridCol w="2286000"/>
                <a:gridCol w="3072384"/>
              </a:tblGrid>
              <a:tr h="457200">
                <a:tc>
                  <a:txBody>
                    <a:bodyPr wrap="square"/>
                    <a:lstStyle/>
                    <a:p>
                      <a:r>
                        <a:rPr sz="1150" b="1">
                          <a:solidFill>
                            <a:srgbClr val="4A5568"/>
                          </a:solidFill>
                          <a:latin typeface="IBM Plex Sans"/>
                        </a:rPr>
                        <a:t>Work</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Their setting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Reported</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b="1">
                          <a:solidFill>
                            <a:srgbClr val="4A5568"/>
                          </a:solidFill>
                          <a:latin typeface="IBM Plex Sans"/>
                        </a:rPr>
                        <a:t>Our closest measurement</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457200">
                <a:tc>
                  <a:txBody>
                    <a:bodyPr wrap="square"/>
                    <a:lstStyle/>
                    <a:p>
                      <a:r>
                        <a:rPr sz="1150">
                          <a:solidFill>
                            <a:srgbClr val="14171A"/>
                          </a:solidFill>
                          <a:latin typeface="IBM Plex Sans"/>
                        </a:rPr>
                        <a:t>DEAL (Zhang 2025)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optimiser attack, undefended RAG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near-total PII extraction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vanilla sends 100% of PII to the LLM; ours 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457200">
                <a:tc>
                  <a:txBody>
                    <a:bodyPr wrap="square"/>
                    <a:lstStyle/>
                    <a:p>
                      <a:r>
                        <a:rPr sz="1150">
                          <a:solidFill>
                            <a:srgbClr val="14171A"/>
                          </a:solidFill>
                          <a:latin typeface="IBM Plex Sans"/>
                        </a:rPr>
                        <a:t>Privacy-Aware Decoding (Wang 2025)</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decoding-time noise</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leakage–utility trade-off</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0% PII in context at 35% ROUGE-L</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457200">
                <a:tc>
                  <a:txBody>
                    <a:bodyPr wrap="square"/>
                    <a:lstStyle/>
                    <a:p>
                      <a:r>
                        <a:rPr sz="1150">
                          <a:solidFill>
                            <a:srgbClr val="14171A"/>
                          </a:solidFill>
                          <a:latin typeface="IBM Plex Sans"/>
                        </a:rPr>
                        <a:t>Spotlighting (Hines 2024)</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prompt delimiting</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reduced attack success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delimiting-only: exposure 100%, success 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457200">
                <a:tc>
                  <a:txBody>
                    <a:bodyPr wrap="square"/>
                    <a:lstStyle/>
                    <a:p>
                      <a:r>
                        <a:rPr sz="1150">
                          <a:solidFill>
                            <a:srgbClr val="14171A"/>
                          </a:solidFill>
                          <a:latin typeface="IBM Plex Sans"/>
                        </a:rPr>
                        <a:t>Vec2Text (Morris 2023)</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embedding inversion</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recovers most short inputs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index PII 100% → 0%</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r h="457200">
                <a:tc>
                  <a:txBody>
                    <a:bodyPr wrap="square"/>
                    <a:lstStyle/>
                    <a:p>
                      <a:r>
                        <a:rPr sz="1150">
                          <a:solidFill>
                            <a:srgbClr val="14171A"/>
                          </a:solidFill>
                          <a:latin typeface="IBM Plex Sans"/>
                        </a:rPr>
                        <a:t>PIIBench (Jha 2026)</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unified PII taxonomy</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low span-F1 for 8 detectors</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c>
                  <a:txBody>
                    <a:bodyPr wrap="square"/>
                    <a:lstStyle/>
                    <a:p>
                      <a:r>
                        <a:rPr sz="1150">
                          <a:solidFill>
                            <a:srgbClr val="14171A"/>
                          </a:solidFill>
                          <a:latin typeface="IBM Plex Sans"/>
                        </a:rPr>
                        <a:t>Presidio held-out F1 54.3%</a:t>
                      </a:r>
                    </a:p>
                  </a:txBody>
                  <a:tcPr marL="54864" marR="54864" marT="27432" marB="27432">
                    <a:lnL w="12700" cap="flat" cmpd="sng" algn="ctr">
                      <a:solidFill>
                        <a:srgbClr val="C7C8C7"/>
                      </a:solidFill>
                    </a:lnL>
                    <a:lnR w="12700" cap="flat" cmpd="sng" algn="ctr">
                      <a:solidFill>
                        <a:srgbClr val="C7C8C7"/>
                      </a:solidFill>
                    </a:lnR>
                    <a:lnT w="12700" cap="flat" cmpd="sng" algn="ctr">
                      <a:solidFill>
                        <a:srgbClr val="C7C8C7"/>
                      </a:solidFill>
                    </a:lnT>
                    <a:lnB w="12700" cap="flat" cmpd="sng" algn="ctr">
                      <a:solidFill>
                        <a:srgbClr val="C7C8C7"/>
                      </a:solidFill>
                    </a:lnB>
                    <a:noFill/>
                  </a:tcPr>
                </a:tc>
              </a:tr>
            </a:tbl>
          </a:graphicData>
        </a:graphic>
      </p:graphicFrame>
      <p:sp>
        <p:nvSpPr>
          <p:cNvPr id="4" name="TextBox 3"/>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TextBox 1"/>
          <p:cNvSpPr txBox="1"/>
          <p:nvPr/>
        </p:nvSpPr>
        <p:spPr>
          <a:xfrm>
            <a:off x="813816" y="566928"/>
            <a:ext cx="10881360" cy="548640"/>
          </a:xfrm>
          <a:prstGeom prst="rect">
            <a:avLst/>
          </a:prstGeom>
          <a:noFill/>
        </p:spPr>
        <p:txBody>
          <a:bodyPr wrap="square" lIns="0" rIns="0" tIns="0" bIns="0">
            <a:spAutoFit/>
          </a:bodyPr>
          <a:lstStyle/>
          <a:p>
            <a:pPr>
              <a:spcAft>
                <a:spcPts val="400"/>
              </a:spcAft>
            </a:pPr>
            <a:r>
              <a:rPr sz="3000" b="1">
                <a:solidFill>
                  <a:srgbClr val="14171A"/>
                </a:solidFill>
                <a:latin typeface="Space Grotesk"/>
              </a:rPr>
              <a:t>Appendix C — live demo</a:t>
            </a:r>
          </a:p>
        </p:txBody>
      </p:sp>
      <p:sp>
        <p:nvSpPr>
          <p:cNvPr id="3" name="TextBox 2"/>
          <p:cNvSpPr txBox="1"/>
          <p:nvPr/>
        </p:nvSpPr>
        <p:spPr>
          <a:xfrm>
            <a:off x="813816" y="1371600"/>
            <a:ext cx="10515600" cy="4389120"/>
          </a:xfrm>
          <a:prstGeom prst="rect">
            <a:avLst/>
          </a:prstGeom>
          <a:noFill/>
        </p:spPr>
        <p:txBody>
          <a:bodyPr wrap="square" lIns="0" rIns="0" tIns="0" bIns="0">
            <a:spAutoFit/>
          </a:bodyPr>
          <a:lstStyle/>
          <a:p>
            <a:pPr>
              <a:spcAft>
                <a:spcPts val="400"/>
              </a:spcAft>
            </a:pPr>
            <a:r>
              <a:rPr sz="1400" b="0">
                <a:solidFill>
                  <a:srgbClr val="14171A"/>
                </a:solidFill>
                <a:latin typeface="IBM Plex Sans"/>
              </a:rPr>
              <a:t>cd ~/copilot-privacy-guard &amp;&amp; .venv/bin/streamlit run app/streamlit_app.py</a:t>
            </a:r>
          </a:p>
          <a:p>
            <a:pPr>
              <a:spcAft>
                <a:spcPts val="400"/>
              </a:spcAft>
            </a:pPr>
            <a:r>
              <a:rPr sz="1400" b="0">
                <a:solidFill>
                  <a:srgbClr val="14171A"/>
                </a:solidFill>
                <a:latin typeface="IBM Plex Sans"/>
              </a:rPr>
              <a:t>Compare — Riya Menon (engineer), q01: Vanilla RAG vs ours → six HR chunks dropped by clearance, nothing sent to the LLM.</a:t>
            </a:r>
          </a:p>
          <a:p>
            <a:pPr>
              <a:spcAft>
                <a:spcPts val="400"/>
              </a:spcAft>
            </a:pPr>
            <a:r>
              <a:rPr sz="1400" b="0">
                <a:solidFill>
                  <a:srgbClr val="14171A"/>
                </a:solidFill>
                <a:latin typeface="IBM Plex Sans"/>
              </a:rPr>
              <a:t>Compare — q32 (injection): Heuristic screening only vs ours → poisoned ticket dropped, judge score shown.</a:t>
            </a:r>
          </a:p>
          <a:p>
            <a:pPr>
              <a:spcAft>
                <a:spcPts val="400"/>
              </a:spcAft>
            </a:pPr>
            <a:r>
              <a:rPr sz="1400" b="0">
                <a:solidFill>
                  <a:srgbClr val="14171A"/>
                </a:solidFill>
                <a:latin typeface="IBM Plex Sans"/>
              </a:rPr>
              <a:t>Attack lab — paste the paraphrased payload → heuristic 0.00, LLM judge ≈ 0.99 → DROP.</a:t>
            </a:r>
          </a:p>
          <a:p>
            <a:pPr>
              <a:spcAft>
                <a:spcPts val="400"/>
              </a:spcAft>
            </a:pPr>
            <a:r>
              <a:rPr sz="1400" b="0">
                <a:solidFill>
                  <a:srgbClr val="14171A"/>
                </a:solidFill>
                <a:latin typeface="IBM Plex Sans"/>
              </a:rPr>
              <a:t>Comparative study / Compliance tabs → the tables on slides 10–14, live from results/.</a:t>
            </a:r>
          </a:p>
          <a:p>
            <a:pPr>
              <a:spcAft>
                <a:spcPts val="400"/>
              </a:spcAft>
            </a:pPr>
            <a:r>
              <a:rPr sz="1400" b="0">
                <a:solidFill>
                  <a:srgbClr val="14171A"/>
                </a:solidFill>
                <a:latin typeface="IBM Plex Sans"/>
              </a:rPr>
              <a:t>Audit log → Verify chain → Tamper a line → Verify shows broken_at.</a:t>
            </a:r>
          </a:p>
          <a:p>
            <a:pPr>
              <a:spcAft>
                <a:spcPts val="400"/>
              </a:spcAft>
            </a:pPr>
            <a:r>
              <a:rPr sz="1400" b="0">
                <a:solidFill>
                  <a:srgbClr val="14171A"/>
                </a:solidFill>
                <a:latin typeface="IBM Plex Sans"/>
              </a:rPr>
              <a:t>Offline: committed caches replay every LLM result with no network.</a:t>
            </a:r>
          </a:p>
        </p:txBody>
      </p:sp>
      <p:sp>
        <p:nvSpPr>
          <p:cNvPr id="4" name="TextBox 3"/>
          <p:cNvSpPr txBox="1"/>
          <p:nvPr/>
        </p:nvSpPr>
        <p:spPr>
          <a:xfrm>
            <a:off x="813816" y="6245352"/>
            <a:ext cx="3200400" cy="237744"/>
          </a:xfrm>
          <a:prstGeom prst="rect">
            <a:avLst/>
          </a:prstGeom>
          <a:noFill/>
        </p:spPr>
        <p:txBody>
          <a:bodyPr wrap="square" lIns="0" rIns="0" tIns="0" bIns="0">
            <a:spAutoFit/>
          </a:bodyPr>
          <a:lstStyle/>
          <a:p>
            <a:pPr>
              <a:spcAft>
                <a:spcPts val="400"/>
              </a:spcAft>
            </a:pPr>
            <a:r>
              <a:rPr sz="1200" b="0">
                <a:solidFill>
                  <a:srgbClr val="8A8F8C"/>
                </a:solidFill>
                <a:latin typeface="IBM Plex Sans"/>
              </a:rPr>
              <a:t>Copilot Privacy Guard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Privacy Guard</dc:title>
  <dc:subject>PptxGenJS Presentation</dc:subject>
  <dc:creator>PptxGenJS</dc:creator>
  <cp:lastModifiedBy>Aditya Sharma</cp:lastModifiedBy>
  <cp:revision>2</cp:revision>
  <dcterms:created xsi:type="dcterms:W3CDTF">2026-09-17T09:15:43Z</dcterms:created>
  <dcterms:modified xsi:type="dcterms:W3CDTF">2026-09-17T09:16:02Z</dcterms:modified>
</cp:coreProperties>
</file>