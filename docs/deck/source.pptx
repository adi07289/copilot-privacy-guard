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63E98AE-1B60-6A4E-9FD5-04107AA44C15}" type="datetimeFigureOut">
              <a:rPr lang="en-US" smtClean="0"/>
              <a:t>9/17/26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F8FB14C0-88C8-044F-8DD8-EDAC27D1A224}" type="slidenum">
              <a:rPr lang="en-US" smtClean="0"/>
              <a:t>‹#›</a:t>
            </a:fld>
            <a:endParaRPr lang="en-US"/>
          </a:p>
        </p:txBody>
      </p:sp>
    </p:spTree>
    <p:extLst>
      <p:ext uri="{BB962C8B-B14F-4D97-AF65-F5344CB8AC3E}">
        <p14:creationId xmlns:p14="http://schemas.microsoft.com/office/powerpoint/2010/main" val="2019103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Today we're presenting Copilot Privacy Guard — a privacy-guard middleware for retrieval-augmented enterprise assistants, built for the BCSE318L Data Privacy case study. I'm Aditya, presenting with my teammate Aarav.</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Copilot-style assistants are given broad read access so they can answer questions in natural language. Industry audits put already-over-shared files at fifteen to sixteen percent. DLP and RBAC operate on whole documents and static roles — they can't see one conversational answer stitched together from many documents across departments. There's no deployable middleware evaluated against DPDP. That's the gap we're building for.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controls run in sequence on every prompt and every retrieved document, before either reaches the LLM. One: redact PII from the prompt first, so the vector store never sees raw PII. Two and three: purpose-based access filtering and injection screening run on candidate chunks. Then PII redaction runs again on whatever chunks survive. Only then does the LLM see anything. And every single decision along the way — every redaction, every drop, every flag — gets appended to a tamper-evident hash chain.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Zooming into each control. PII detection uses our own India-first recognizer registry, not US-centric defaults. Access filtering encodes DPDP's purpose-limitation principle as a runtime rule, not just a static role check. Injection screening drops the worst offenders and wraps the rest as untrusted data. And the audit log is tamper-evident — it stores what kind of thing was redacted, never the value itself.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3.13, forty-six tests, test-driven throughout. The corpus is Faker with the Indian locale plus our own generators for Aadhaar, PAN, IFSC and UPI. Retrieval is TF-IDF behind an interface, so dense embeddings are a one-class swap later. The LLM is Groq's Llama 3.1 8B with a deterministic fallback, so the evaluation is reproducible and the demo can't be broken by the network.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one through three were delivered in Review 2. Tonight's work is O5, the prototype, at roughly fifty percent, and O6, the evaluation, with four of six metrics measured. The DPIA risk register, clause mapping, incident analyses and the final checklist are next stage — the roadmap slide lists the build order.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retriever, same LLM, every other variable held constant — only the four controls differ. PII leakage drops from thirty-four point eight percent to zero. Over-sharing retrieval drops from sixty point eight percent to zero. Redaction precision and recall are in the low nineties, and the guard costs just twenty-two milliseconds. Two rows still say next stage — we'll come back to those honestly.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nobody in our fourteen-paper survey does together. First, role and purpose awareness — not just content awareness. Second, India-first PII detection, validated against real Indian identifier formats. Third, everything integrated and measured as one deployable pipeline, which the injection-survey literature itself flags as missing.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We'd rather say these ourselves than have them found. The corpus is synthetic, so our numbers show the architecture works, not production recall. Injection screening is heuristic and will miss a paraphrased attack. Two of six metrics still need generation-level evaluation. Access is a static tag model, not a real identity provider. And we don't yet defend the vector index itself against embedding inversion.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build order for Review 3 through final: answer-quality retention and the LLM judge close out the evaluation; clause mapping, the DPIA register, incident analyses and the checklist close out the non-code objectives; and a dense retriever is the natural next architectural step. Thank you — happy to take questions or open the live demo.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A"/>
        </a:solidFill>
        <a:effectLst/>
      </p:bgPr>
    </p:bg>
    <p:spTree>
      <p:nvGrpSpPr>
        <p:cNvPr id="1" name=""/>
        <p:cNvGrpSpPr/>
        <p:nvPr/>
      </p:nvGrpSpPr>
      <p:grpSpPr>
        <a:xfrm>
          <a:off x="0" y="0"/>
          <a:ext cx="0" cy="0"/>
          <a:chOff x="0" y="0"/>
          <a:chExt cx="0" cy="0"/>
        </a:xfrm>
      </p:grpSpPr>
      <p:sp>
        <p:nvSpPr>
          <p:cNvPr id="2" name="Text 0"/>
          <p:cNvSpPr/>
          <p:nvPr/>
        </p:nvSpPr>
        <p:spPr>
          <a:xfrm>
            <a:off x="812800" y="2371725"/>
            <a:ext cx="10883392" cy="23495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5FA593"/>
                </a:solidFill>
                <a:latin typeface="IBM Plex Mono" pitchFamily="34" charset="0"/>
                <a:ea typeface="IBM Plex Mono" pitchFamily="34" charset="-122"/>
                <a:cs typeface="IBM Plex Mono" pitchFamily="34" charset="-120"/>
              </a:rPr>
              <a:t>BCSE318L DATA PRIVACY · VIT VELLORE</a:t>
            </a:r>
            <a:endParaRPr lang="en-US" sz="1200" dirty="0"/>
          </a:p>
        </p:txBody>
      </p:sp>
      <p:sp>
        <p:nvSpPr>
          <p:cNvPr id="3" name="Text 1"/>
          <p:cNvSpPr/>
          <p:nvPr/>
        </p:nvSpPr>
        <p:spPr>
          <a:xfrm>
            <a:off x="812800" y="2809875"/>
            <a:ext cx="10464800" cy="876300"/>
          </a:xfrm>
          <a:prstGeom prst="rect">
            <a:avLst/>
          </a:prstGeom>
          <a:noFill/>
          <a:ln/>
        </p:spPr>
        <p:txBody>
          <a:bodyPr wrap="square" lIns="0" tIns="0" rIns="0" bIns="0" rtlCol="0" anchor="t">
            <a:normAutofit/>
          </a:bodyPr>
          <a:lstStyle/>
          <a:p>
            <a:pPr marL="0" indent="0" algn="l">
              <a:lnSpc>
                <a:spcPts val="6720"/>
              </a:lnSpc>
              <a:buNone/>
            </a:pPr>
            <a:r>
              <a:rPr lang="en-US" sz="6400" b="1" dirty="0">
                <a:solidFill>
                  <a:srgbClr val="FAFAF8"/>
                </a:solidFill>
                <a:latin typeface="Space Grotesk" pitchFamily="34" charset="0"/>
                <a:ea typeface="Space Grotesk" pitchFamily="34" charset="-122"/>
                <a:cs typeface="Space Grotesk" pitchFamily="34" charset="-120"/>
              </a:rPr>
              <a:t>Copilot Privacy Guard</a:t>
            </a:r>
            <a:endParaRPr lang="en-US" sz="6400" dirty="0"/>
          </a:p>
        </p:txBody>
      </p:sp>
      <p:sp>
        <p:nvSpPr>
          <p:cNvPr id="4" name="Text 2"/>
          <p:cNvSpPr/>
          <p:nvPr/>
        </p:nvSpPr>
        <p:spPr>
          <a:xfrm>
            <a:off x="812800" y="3889375"/>
            <a:ext cx="8175625" cy="62230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7CDCB"/>
                </a:solidFill>
                <a:latin typeface="IBM Plex Sans" pitchFamily="34" charset="0"/>
                <a:ea typeface="IBM Plex Sans" pitchFamily="34" charset="-122"/>
                <a:cs typeface="IBM Plex Sans" pitchFamily="34" charset="-120"/>
              </a:rPr>
              <a:t>A DPDP-aligned privacy-guard middleware for retrieval-augmented enterprise LLM assistants</a:t>
            </a:r>
            <a:endParaRPr lang="en-US" sz="1700" dirty="0"/>
          </a:p>
        </p:txBody>
      </p:sp>
      <p:sp>
        <p:nvSpPr>
          <p:cNvPr id="5" name="Text 3"/>
          <p:cNvSpPr/>
          <p:nvPr/>
        </p:nvSpPr>
        <p:spPr>
          <a:xfrm>
            <a:off x="812800" y="6242050"/>
            <a:ext cx="198463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91"/>
                </a:solidFill>
                <a:latin typeface="IBM Plex Sans" pitchFamily="34" charset="0"/>
                <a:ea typeface="IBM Plex Sans" pitchFamily="34" charset="-122"/>
                <a:cs typeface="IBM Plex Sans" pitchFamily="34" charset="-120"/>
              </a:rPr>
              <a:t>Aditya Sharma · Aarav Raina</a:t>
            </a:r>
            <a:endParaRPr lang="en-US" sz="1200" dirty="0"/>
          </a:p>
        </p:txBody>
      </p:sp>
      <p:sp>
        <p:nvSpPr>
          <p:cNvPr id="6" name="Text 4"/>
          <p:cNvSpPr/>
          <p:nvPr/>
        </p:nvSpPr>
        <p:spPr>
          <a:xfrm>
            <a:off x="7630120" y="6242050"/>
            <a:ext cx="386155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91"/>
                </a:solidFill>
                <a:latin typeface="IBM Plex Mono" pitchFamily="34" charset="0"/>
                <a:ea typeface="IBM Plex Mono" pitchFamily="34" charset="-122"/>
                <a:cs typeface="IBM Plex Mono" pitchFamily="34" charset="-120"/>
              </a:rPr>
              <a:t>github.com/Adi07289/copilot-privacy-guard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9810750" cy="95250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The problem: broad access, narrow accountability</a:t>
            </a:r>
            <a:endParaRPr lang="en-US" sz="3200" dirty="0"/>
          </a:p>
        </p:txBody>
      </p:sp>
      <p:sp>
        <p:nvSpPr>
          <p:cNvPr id="3" name="Shape 1"/>
          <p:cNvSpPr/>
          <p:nvPr/>
        </p:nvSpPr>
        <p:spPr>
          <a:xfrm>
            <a:off x="812800" y="2044700"/>
            <a:ext cx="2921000" cy="3797300"/>
          </a:xfrm>
          <a:prstGeom prst="roundRect">
            <a:avLst>
              <a:gd name="adj" fmla="val 5217"/>
            </a:avLst>
          </a:prstGeom>
          <a:solidFill>
            <a:srgbClr val="E4EEEA"/>
          </a:solidFill>
          <a:ln/>
        </p:spPr>
      </p:sp>
      <p:sp>
        <p:nvSpPr>
          <p:cNvPr id="4" name="Text 2"/>
          <p:cNvSpPr/>
          <p:nvPr/>
        </p:nvSpPr>
        <p:spPr>
          <a:xfrm>
            <a:off x="1117600" y="2838450"/>
            <a:ext cx="2380742" cy="1422400"/>
          </a:xfrm>
          <a:prstGeom prst="rect">
            <a:avLst/>
          </a:prstGeom>
          <a:noFill/>
          <a:ln/>
        </p:spPr>
        <p:txBody>
          <a:bodyPr wrap="square" lIns="0" tIns="0" rIns="0" bIns="0" rtlCol="0" anchor="t">
            <a:normAutofit/>
          </a:bodyPr>
          <a:lstStyle/>
          <a:p>
            <a:pPr marL="0" indent="0" algn="l">
              <a:lnSpc>
                <a:spcPts val="5500"/>
              </a:lnSpc>
              <a:buNone/>
            </a:pPr>
            <a:r>
              <a:rPr lang="en-US" sz="5500" b="1" dirty="0">
                <a:solidFill>
                  <a:srgbClr val="2F6F5E"/>
                </a:solidFill>
                <a:latin typeface="IBM Plex Mono" pitchFamily="34" charset="0"/>
                <a:ea typeface="IBM Plex Mono" pitchFamily="34" charset="-122"/>
                <a:cs typeface="IBM Plex Mono" pitchFamily="34" charset="-120"/>
              </a:rPr>
              <a:t>15–16%</a:t>
            </a:r>
            <a:endParaRPr lang="en-US" sz="5500" dirty="0"/>
          </a:p>
        </p:txBody>
      </p:sp>
      <p:sp>
        <p:nvSpPr>
          <p:cNvPr id="5" name="Text 3"/>
          <p:cNvSpPr/>
          <p:nvPr/>
        </p:nvSpPr>
        <p:spPr>
          <a:xfrm>
            <a:off x="1117600" y="4362450"/>
            <a:ext cx="2380742" cy="7112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2F6F5E"/>
                </a:solidFill>
                <a:latin typeface="IBM Plex Sans" pitchFamily="34" charset="0"/>
                <a:ea typeface="IBM Plex Sans" pitchFamily="34" charset="-122"/>
                <a:cs typeface="IBM Plex Sans" pitchFamily="34" charset="-120"/>
              </a:rPr>
              <a:t>of business-critical files are already over-shared, industry-wide</a:t>
            </a:r>
            <a:endParaRPr lang="en-US" sz="1300" dirty="0"/>
          </a:p>
        </p:txBody>
      </p:sp>
      <p:sp>
        <p:nvSpPr>
          <p:cNvPr id="6" name="Text 4"/>
          <p:cNvSpPr/>
          <p:nvPr/>
        </p:nvSpPr>
        <p:spPr>
          <a:xfrm>
            <a:off x="4038600" y="2794000"/>
            <a:ext cx="7560818" cy="1320800"/>
          </a:xfrm>
          <a:prstGeom prst="rect">
            <a:avLst/>
          </a:prstGeom>
          <a:noFill/>
          <a:ln/>
        </p:spPr>
        <p:txBody>
          <a:bodyPr wrap="square" lIns="0" tIns="0" rIns="0" bIns="0" rtlCol="0" anchor="t">
            <a:normAutofit/>
          </a:bodyPr>
          <a:lstStyle/>
          <a:p>
            <a:pPr marL="0" indent="0" algn="l">
              <a:lnSpc>
                <a:spcPts val="2550"/>
              </a:lnSpc>
              <a:buNone/>
            </a:pPr>
            <a:r>
              <a:rPr lang="en-US" sz="1700" dirty="0">
                <a:solidFill>
                  <a:srgbClr val="14171A"/>
                </a:solidFill>
                <a:latin typeface="IBM Plex Sans" pitchFamily="34" charset="0"/>
                <a:ea typeface="IBM Plex Sans" pitchFamily="34" charset="-122"/>
                <a:cs typeface="IBM Plex Sans" pitchFamily="34" charset="-120"/>
              </a:rPr>
              <a:t>Enterprise assistants like M365 Copilot get broad read access across email, HR, tickets and code so they can answer in natural language. Copilot doesn't create these exposures — it makes every one of them discoverable with a single sentence.</a:t>
            </a:r>
            <a:endParaRPr lang="en-US" sz="1700" dirty="0"/>
          </a:p>
        </p:txBody>
      </p:sp>
      <p:sp>
        <p:nvSpPr>
          <p:cNvPr id="7" name="Text 5"/>
          <p:cNvSpPr/>
          <p:nvPr/>
        </p:nvSpPr>
        <p:spPr>
          <a:xfrm>
            <a:off x="4038600" y="4292600"/>
            <a:ext cx="7560818" cy="825500"/>
          </a:xfrm>
          <a:prstGeom prst="rect">
            <a:avLst/>
          </a:prstGeom>
          <a:noFill/>
          <a:ln/>
        </p:spPr>
        <p:txBody>
          <a:bodyPr wrap="square" lIns="0" tIns="0" rIns="0" bIns="0" rtlCol="0" anchor="t">
            <a:normAutofit/>
          </a:bodyPr>
          <a:lstStyle/>
          <a:p>
            <a:pPr marL="0" indent="0" algn="l">
              <a:lnSpc>
                <a:spcPts val="2100"/>
              </a:lnSpc>
              <a:buNone/>
            </a:pPr>
            <a:r>
              <a:rPr lang="en-US" sz="1400" dirty="0">
                <a:solidFill>
                  <a:srgbClr val="4A5568"/>
                </a:solidFill>
                <a:latin typeface="IBM Plex Sans" pitchFamily="34" charset="0"/>
                <a:ea typeface="IBM Plex Sans" pitchFamily="34" charset="-122"/>
                <a:cs typeface="IBM Plex Sans" pitchFamily="34" charset="-120"/>
              </a:rPr>
              <a:t>DLP and RBAC work on whole documents and static roles. They can't see one answer stitched together from twelve documents across four departments — and no deployable middleware has been evaluated against India's DPDP Act 2023.</a:t>
            </a:r>
            <a:endParaRPr lang="en-US" sz="1400" dirty="0"/>
          </a:p>
        </p:txBody>
      </p:sp>
      <p:sp>
        <p:nvSpPr>
          <p:cNvPr id="8" name="Text 6"/>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How it works: intercepted before the LLM ever sees it</a:t>
            </a:r>
            <a:endParaRPr lang="en-US" sz="3200" dirty="0"/>
          </a:p>
        </p:txBody>
      </p:sp>
      <p:sp>
        <p:nvSpPr>
          <p:cNvPr id="3" name="Shape 1"/>
          <p:cNvSpPr/>
          <p:nvPr/>
        </p:nvSpPr>
        <p:spPr>
          <a:xfrm>
            <a:off x="815975" y="1558925"/>
            <a:ext cx="1659930" cy="1041400"/>
          </a:xfrm>
          <a:prstGeom prst="roundRect">
            <a:avLst>
              <a:gd name="adj" fmla="val 11890"/>
            </a:avLst>
          </a:prstGeom>
          <a:solidFill>
            <a:srgbClr val="EFEDE6"/>
          </a:solidFill>
          <a:ln w="6350">
            <a:solidFill>
              <a:srgbClr val="E3E1D9"/>
            </a:solidFill>
            <a:prstDash val="solid"/>
          </a:ln>
        </p:spPr>
      </p:sp>
      <p:sp>
        <p:nvSpPr>
          <p:cNvPr id="4" name="Text 2"/>
          <p:cNvSpPr/>
          <p:nvPr/>
        </p:nvSpPr>
        <p:spPr>
          <a:xfrm>
            <a:off x="1179909" y="1844675"/>
            <a:ext cx="931962"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A"/>
                </a:solidFill>
                <a:latin typeface="IBM Plex Sans" pitchFamily="34" charset="0"/>
                <a:ea typeface="IBM Plex Sans" pitchFamily="34" charset="-122"/>
                <a:cs typeface="IBM Plex Sans" pitchFamily="34" charset="-120"/>
              </a:rPr>
              <a:t>User prompt</a:t>
            </a:r>
            <a:endParaRPr lang="en-US" sz="1200" dirty="0"/>
          </a:p>
        </p:txBody>
      </p:sp>
      <p:sp>
        <p:nvSpPr>
          <p:cNvPr id="5" name="Text 3"/>
          <p:cNvSpPr/>
          <p:nvPr/>
        </p:nvSpPr>
        <p:spPr>
          <a:xfrm>
            <a:off x="1279823" y="2105025"/>
            <a:ext cx="732234"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raw query</a:t>
            </a:r>
            <a:endParaRPr lang="en-US" sz="1200" dirty="0"/>
          </a:p>
        </p:txBody>
      </p:sp>
      <p:pic>
        <p:nvPicPr>
          <p:cNvPr id="6" name="Image 0" descr="arrow-right"/>
          <p:cNvPicPr>
            <a:picLocks noChangeAspect="1"/>
          </p:cNvPicPr>
          <p:nvPr/>
        </p:nvPicPr>
        <p:blipFill>
          <a:blip r:embed="rId3"/>
          <a:srcRect/>
          <a:stretch/>
        </p:blipFill>
        <p:spPr>
          <a:xfrm>
            <a:off x="2606080" y="2003425"/>
            <a:ext cx="304800" cy="152400"/>
          </a:xfrm>
          <a:prstGeom prst="rect">
            <a:avLst/>
          </a:prstGeom>
        </p:spPr>
      </p:pic>
      <p:sp>
        <p:nvSpPr>
          <p:cNvPr id="7" name="Shape 4"/>
          <p:cNvSpPr/>
          <p:nvPr/>
        </p:nvSpPr>
        <p:spPr>
          <a:xfrm>
            <a:off x="3041055" y="1558925"/>
            <a:ext cx="1659930" cy="1041400"/>
          </a:xfrm>
          <a:prstGeom prst="roundRect">
            <a:avLst>
              <a:gd name="adj" fmla="val 11890"/>
            </a:avLst>
          </a:prstGeom>
          <a:solidFill>
            <a:srgbClr val="EFEDE6"/>
          </a:solidFill>
          <a:ln w="6350">
            <a:solidFill>
              <a:srgbClr val="E3E1D9"/>
            </a:solidFill>
            <a:prstDash val="solid"/>
          </a:ln>
        </p:spPr>
      </p:sp>
      <p:sp>
        <p:nvSpPr>
          <p:cNvPr id="8" name="Text 5"/>
          <p:cNvSpPr/>
          <p:nvPr/>
        </p:nvSpPr>
        <p:spPr>
          <a:xfrm>
            <a:off x="3396357" y="1844675"/>
            <a:ext cx="949226"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F6F5E"/>
                </a:solidFill>
                <a:latin typeface="IBM Plex Sans" pitchFamily="34" charset="0"/>
                <a:ea typeface="IBM Plex Sans" pitchFamily="34" charset="-122"/>
                <a:cs typeface="IBM Plex Sans" pitchFamily="34" charset="-120"/>
              </a:rPr>
              <a:t>① PII redact</a:t>
            </a:r>
            <a:endParaRPr lang="en-US" sz="1200" dirty="0"/>
          </a:p>
        </p:txBody>
      </p:sp>
      <p:sp>
        <p:nvSpPr>
          <p:cNvPr id="9" name="Text 6"/>
          <p:cNvSpPr/>
          <p:nvPr/>
        </p:nvSpPr>
        <p:spPr>
          <a:xfrm>
            <a:off x="3255367" y="2105025"/>
            <a:ext cx="1231205"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scrub the prompt</a:t>
            </a:r>
            <a:endParaRPr lang="en-US" sz="1200" dirty="0"/>
          </a:p>
        </p:txBody>
      </p:sp>
      <p:pic>
        <p:nvPicPr>
          <p:cNvPr id="10" name="Image 1" descr="arrow-right"/>
          <p:cNvPicPr>
            <a:picLocks noChangeAspect="1"/>
          </p:cNvPicPr>
          <p:nvPr/>
        </p:nvPicPr>
        <p:blipFill>
          <a:blip r:embed="rId3"/>
          <a:srcRect/>
          <a:stretch/>
        </p:blipFill>
        <p:spPr>
          <a:xfrm>
            <a:off x="4831159" y="2003425"/>
            <a:ext cx="304800" cy="152400"/>
          </a:xfrm>
          <a:prstGeom prst="rect">
            <a:avLst/>
          </a:prstGeom>
        </p:spPr>
      </p:pic>
      <p:sp>
        <p:nvSpPr>
          <p:cNvPr id="11" name="Shape 7"/>
          <p:cNvSpPr/>
          <p:nvPr/>
        </p:nvSpPr>
        <p:spPr>
          <a:xfrm>
            <a:off x="5266134" y="1558925"/>
            <a:ext cx="1659930" cy="1041400"/>
          </a:xfrm>
          <a:prstGeom prst="roundRect">
            <a:avLst>
              <a:gd name="adj" fmla="val 11890"/>
            </a:avLst>
          </a:prstGeom>
          <a:solidFill>
            <a:srgbClr val="EFEDE6"/>
          </a:solidFill>
          <a:ln w="6350">
            <a:solidFill>
              <a:srgbClr val="E3E1D9"/>
            </a:solidFill>
            <a:prstDash val="solid"/>
          </a:ln>
        </p:spPr>
      </p:sp>
      <p:sp>
        <p:nvSpPr>
          <p:cNvPr id="12" name="Text 8"/>
          <p:cNvSpPr/>
          <p:nvPr/>
        </p:nvSpPr>
        <p:spPr>
          <a:xfrm>
            <a:off x="5523706" y="1739900"/>
            <a:ext cx="1144687"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A"/>
                </a:solidFill>
                <a:latin typeface="IBM Plex Sans" pitchFamily="34" charset="0"/>
                <a:ea typeface="IBM Plex Sans" pitchFamily="34" charset="-122"/>
                <a:cs typeface="IBM Plex Sans" pitchFamily="34" charset="-120"/>
              </a:rPr>
              <a:t>Retrieve + filter</a:t>
            </a:r>
            <a:endParaRPr lang="en-US" sz="1200" dirty="0"/>
          </a:p>
        </p:txBody>
      </p:sp>
      <p:sp>
        <p:nvSpPr>
          <p:cNvPr id="13" name="Text 9"/>
          <p:cNvSpPr/>
          <p:nvPr/>
        </p:nvSpPr>
        <p:spPr>
          <a:xfrm>
            <a:off x="5421709" y="2000250"/>
            <a:ext cx="1348780" cy="44450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② purpose · ③ injection</a:t>
            </a:r>
            <a:endParaRPr lang="en-US" sz="1200" dirty="0"/>
          </a:p>
        </p:txBody>
      </p:sp>
      <p:pic>
        <p:nvPicPr>
          <p:cNvPr id="14" name="Image 2" descr="arrow-right"/>
          <p:cNvPicPr>
            <a:picLocks noChangeAspect="1"/>
          </p:cNvPicPr>
          <p:nvPr/>
        </p:nvPicPr>
        <p:blipFill>
          <a:blip r:embed="rId3"/>
          <a:srcRect/>
          <a:stretch/>
        </p:blipFill>
        <p:spPr>
          <a:xfrm>
            <a:off x="7056239" y="2003425"/>
            <a:ext cx="304800" cy="152400"/>
          </a:xfrm>
          <a:prstGeom prst="rect">
            <a:avLst/>
          </a:prstGeom>
        </p:spPr>
      </p:pic>
      <p:sp>
        <p:nvSpPr>
          <p:cNvPr id="15" name="Shape 10"/>
          <p:cNvSpPr/>
          <p:nvPr/>
        </p:nvSpPr>
        <p:spPr>
          <a:xfrm>
            <a:off x="7491214" y="1558925"/>
            <a:ext cx="1659930" cy="1041400"/>
          </a:xfrm>
          <a:prstGeom prst="roundRect">
            <a:avLst>
              <a:gd name="adj" fmla="val 11890"/>
            </a:avLst>
          </a:prstGeom>
          <a:solidFill>
            <a:srgbClr val="EFEDE6"/>
          </a:solidFill>
          <a:ln w="6350">
            <a:solidFill>
              <a:srgbClr val="E3E1D9"/>
            </a:solidFill>
            <a:prstDash val="solid"/>
          </a:ln>
        </p:spPr>
      </p:sp>
      <p:sp>
        <p:nvSpPr>
          <p:cNvPr id="16" name="Text 11"/>
          <p:cNvSpPr/>
          <p:nvPr/>
        </p:nvSpPr>
        <p:spPr>
          <a:xfrm>
            <a:off x="7846516" y="1844675"/>
            <a:ext cx="949226"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2F6F5E"/>
                </a:solidFill>
                <a:latin typeface="IBM Plex Sans" pitchFamily="34" charset="0"/>
                <a:ea typeface="IBM Plex Sans" pitchFamily="34" charset="-122"/>
                <a:cs typeface="IBM Plex Sans" pitchFamily="34" charset="-120"/>
              </a:rPr>
              <a:t>① PII redact</a:t>
            </a:r>
            <a:endParaRPr lang="en-US" sz="1200" dirty="0"/>
          </a:p>
        </p:txBody>
      </p:sp>
      <p:sp>
        <p:nvSpPr>
          <p:cNvPr id="17" name="Text 12"/>
          <p:cNvSpPr/>
          <p:nvPr/>
        </p:nvSpPr>
        <p:spPr>
          <a:xfrm>
            <a:off x="7712373" y="2105025"/>
            <a:ext cx="1217613"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scrub the chunks</a:t>
            </a:r>
            <a:endParaRPr lang="en-US" sz="1200" dirty="0"/>
          </a:p>
        </p:txBody>
      </p:sp>
      <p:pic>
        <p:nvPicPr>
          <p:cNvPr id="18" name="Image 3" descr="arrow-right"/>
          <p:cNvPicPr>
            <a:picLocks noChangeAspect="1"/>
          </p:cNvPicPr>
          <p:nvPr/>
        </p:nvPicPr>
        <p:blipFill>
          <a:blip r:embed="rId3"/>
          <a:srcRect/>
          <a:stretch/>
        </p:blipFill>
        <p:spPr>
          <a:xfrm>
            <a:off x="9281319" y="2003425"/>
            <a:ext cx="304800" cy="152400"/>
          </a:xfrm>
          <a:prstGeom prst="rect">
            <a:avLst/>
          </a:prstGeom>
        </p:spPr>
      </p:pic>
      <p:sp>
        <p:nvSpPr>
          <p:cNvPr id="19" name="Shape 13"/>
          <p:cNvSpPr/>
          <p:nvPr/>
        </p:nvSpPr>
        <p:spPr>
          <a:xfrm>
            <a:off x="9716294" y="1558925"/>
            <a:ext cx="1659930" cy="1041400"/>
          </a:xfrm>
          <a:prstGeom prst="roundRect">
            <a:avLst>
              <a:gd name="adj" fmla="val 11890"/>
            </a:avLst>
          </a:prstGeom>
          <a:solidFill>
            <a:srgbClr val="EFEDE6"/>
          </a:solidFill>
          <a:ln w="6350">
            <a:solidFill>
              <a:srgbClr val="E3E1D9"/>
            </a:solidFill>
            <a:prstDash val="solid"/>
          </a:ln>
        </p:spPr>
      </p:sp>
      <p:sp>
        <p:nvSpPr>
          <p:cNvPr id="20" name="Text 14"/>
          <p:cNvSpPr/>
          <p:nvPr/>
        </p:nvSpPr>
        <p:spPr>
          <a:xfrm>
            <a:off x="10007997" y="1844675"/>
            <a:ext cx="1076424" cy="23495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14171A"/>
                </a:solidFill>
                <a:latin typeface="IBM Plex Sans" pitchFamily="34" charset="0"/>
                <a:ea typeface="IBM Plex Sans" pitchFamily="34" charset="-122"/>
                <a:cs typeface="IBM Plex Sans" pitchFamily="34" charset="-120"/>
              </a:rPr>
              <a:t>LLM → answer</a:t>
            </a:r>
            <a:endParaRPr lang="en-US" sz="1200" dirty="0"/>
          </a:p>
        </p:txBody>
      </p:sp>
      <p:sp>
        <p:nvSpPr>
          <p:cNvPr id="21" name="Text 15"/>
          <p:cNvSpPr/>
          <p:nvPr/>
        </p:nvSpPr>
        <p:spPr>
          <a:xfrm>
            <a:off x="9950748" y="2105025"/>
            <a:ext cx="1190923" cy="23495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4A5568"/>
                </a:solidFill>
                <a:latin typeface="IBM Plex Sans" pitchFamily="34" charset="0"/>
                <a:ea typeface="IBM Plex Sans" pitchFamily="34" charset="-122"/>
                <a:cs typeface="IBM Plex Sans" pitchFamily="34" charset="-120"/>
              </a:rPr>
              <a:t>Groq / extractive</a:t>
            </a:r>
            <a:endParaRPr lang="en-US" sz="1200" dirty="0"/>
          </a:p>
        </p:txBody>
      </p:sp>
      <p:pic>
        <p:nvPicPr>
          <p:cNvPr id="22" name="Image 4" descr="arrow-down"/>
          <p:cNvPicPr>
            <a:picLocks noChangeAspect="1"/>
          </p:cNvPicPr>
          <p:nvPr/>
        </p:nvPicPr>
        <p:blipFill>
          <a:blip r:embed="rId4"/>
          <a:srcRect/>
          <a:stretch/>
        </p:blipFill>
        <p:spPr>
          <a:xfrm>
            <a:off x="6019800" y="2882900"/>
            <a:ext cx="152400" cy="203200"/>
          </a:xfrm>
          <a:prstGeom prst="rect">
            <a:avLst/>
          </a:prstGeom>
        </p:spPr>
      </p:pic>
      <p:sp>
        <p:nvSpPr>
          <p:cNvPr id="23" name="Shape 16"/>
          <p:cNvSpPr/>
          <p:nvPr/>
        </p:nvSpPr>
        <p:spPr>
          <a:xfrm>
            <a:off x="812800" y="3187700"/>
            <a:ext cx="10566400" cy="584200"/>
          </a:xfrm>
          <a:prstGeom prst="roundRect">
            <a:avLst>
              <a:gd name="adj" fmla="val 21739"/>
            </a:avLst>
          </a:prstGeom>
          <a:solidFill>
            <a:srgbClr val="2F6F5E"/>
          </a:solidFill>
          <a:ln/>
        </p:spPr>
      </p:sp>
      <p:pic>
        <p:nvPicPr>
          <p:cNvPr id="24" name="Image 5" descr="Lock"/>
          <p:cNvPicPr>
            <a:picLocks noChangeAspect="1"/>
          </p:cNvPicPr>
          <p:nvPr/>
        </p:nvPicPr>
        <p:blipFill>
          <a:blip r:embed="rId5"/>
          <a:srcRect/>
          <a:stretch/>
        </p:blipFill>
        <p:spPr>
          <a:xfrm>
            <a:off x="2099667" y="3378200"/>
            <a:ext cx="203200" cy="203200"/>
          </a:xfrm>
          <a:prstGeom prst="rect">
            <a:avLst/>
          </a:prstGeom>
        </p:spPr>
      </p:pic>
      <p:sp>
        <p:nvSpPr>
          <p:cNvPr id="25" name="Text 17"/>
          <p:cNvSpPr/>
          <p:nvPr/>
        </p:nvSpPr>
        <p:spPr>
          <a:xfrm>
            <a:off x="2404467" y="3365500"/>
            <a:ext cx="7918399" cy="25400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AF8"/>
                </a:solidFill>
                <a:latin typeface="IBM Plex Sans" pitchFamily="34" charset="0"/>
                <a:ea typeface="IBM Plex Sans" pitchFamily="34" charset="-122"/>
                <a:cs typeface="IBM Plex Sans" pitchFamily="34" charset="-120"/>
              </a:rPr>
              <a:t>④ Every decision — every redaction, drop and flag — is appended to a SHA-256 hash-chained audit log</a:t>
            </a:r>
            <a:endParaRPr lang="en-US" sz="1300" dirty="0"/>
          </a:p>
        </p:txBody>
      </p:sp>
      <p:sp>
        <p:nvSpPr>
          <p:cNvPr id="26" name="Text 18"/>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The four controls</a:t>
            </a:r>
            <a:endParaRPr lang="en-US" sz="3200" dirty="0"/>
          </a:p>
        </p:txBody>
      </p:sp>
      <p:sp>
        <p:nvSpPr>
          <p:cNvPr id="3" name="Shape 1"/>
          <p:cNvSpPr/>
          <p:nvPr/>
        </p:nvSpPr>
        <p:spPr>
          <a:xfrm>
            <a:off x="812800" y="1530350"/>
            <a:ext cx="5194300" cy="2066925"/>
          </a:xfrm>
          <a:prstGeom prst="roundRect">
            <a:avLst>
              <a:gd name="adj" fmla="val 6144"/>
            </a:avLst>
          </a:prstGeom>
          <a:solidFill>
            <a:srgbClr val="EFEDE6"/>
          </a:solidFill>
          <a:ln/>
        </p:spPr>
      </p:sp>
      <p:sp>
        <p:nvSpPr>
          <p:cNvPr id="4" name="Text 2"/>
          <p:cNvSpPr/>
          <p:nvPr/>
        </p:nvSpPr>
        <p:spPr>
          <a:xfrm>
            <a:off x="1066800" y="1784350"/>
            <a:ext cx="482688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5E"/>
                </a:solidFill>
                <a:latin typeface="IBM Plex Mono" pitchFamily="34" charset="0"/>
                <a:ea typeface="IBM Plex Mono" pitchFamily="34" charset="-122"/>
                <a:cs typeface="IBM Plex Mono" pitchFamily="34" charset="-120"/>
              </a:rPr>
              <a:t>01 · PII DETECTION &amp; REDACTION</a:t>
            </a:r>
            <a:endParaRPr lang="en-US" sz="1200" dirty="0"/>
          </a:p>
        </p:txBody>
      </p:sp>
      <p:sp>
        <p:nvSpPr>
          <p:cNvPr id="5" name="Text 3"/>
          <p:cNvSpPr/>
          <p:nvPr/>
        </p:nvSpPr>
        <p:spPr>
          <a:xfrm>
            <a:off x="1066800" y="2082800"/>
            <a:ext cx="4826889" cy="96520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4171A"/>
                </a:solidFill>
                <a:latin typeface="IBM Plex Sans" pitchFamily="34" charset="0"/>
                <a:ea typeface="IBM Plex Sans" pitchFamily="34" charset="-122"/>
                <a:cs typeface="IBM Plex Sans" pitchFamily="34" charset="-120"/>
              </a:rPr>
              <a:t>India-first recognizer registry — Aadhaar (Verhoeff-validated), PAN, Indian mobile, IFSC, UPI VPA, card (Luhn) — plus optional spaCy NER for names. Typed placeholders replace values in the prompt and in every retrieved chunk.</a:t>
            </a:r>
            <a:endParaRPr lang="en-US" sz="1350" dirty="0"/>
          </a:p>
        </p:txBody>
      </p:sp>
      <p:sp>
        <p:nvSpPr>
          <p:cNvPr id="6" name="Shape 4"/>
          <p:cNvSpPr/>
          <p:nvPr/>
        </p:nvSpPr>
        <p:spPr>
          <a:xfrm>
            <a:off x="6184900" y="1530350"/>
            <a:ext cx="5194300" cy="2066925"/>
          </a:xfrm>
          <a:prstGeom prst="roundRect">
            <a:avLst>
              <a:gd name="adj" fmla="val 6144"/>
            </a:avLst>
          </a:prstGeom>
          <a:solidFill>
            <a:srgbClr val="EFEDE6"/>
          </a:solidFill>
          <a:ln/>
        </p:spPr>
      </p:sp>
      <p:sp>
        <p:nvSpPr>
          <p:cNvPr id="7" name="Text 5"/>
          <p:cNvSpPr/>
          <p:nvPr/>
        </p:nvSpPr>
        <p:spPr>
          <a:xfrm>
            <a:off x="6438900" y="1784350"/>
            <a:ext cx="482688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5E"/>
                </a:solidFill>
                <a:latin typeface="IBM Plex Mono" pitchFamily="34" charset="0"/>
                <a:ea typeface="IBM Plex Mono" pitchFamily="34" charset="-122"/>
                <a:cs typeface="IBM Plex Mono" pitchFamily="34" charset="-120"/>
              </a:rPr>
              <a:t>02 · PURPOSE-BASED ACCESS FILTER</a:t>
            </a:r>
            <a:endParaRPr lang="en-US" sz="1200" dirty="0"/>
          </a:p>
        </p:txBody>
      </p:sp>
      <p:sp>
        <p:nvSpPr>
          <p:cNvPr id="8" name="Text 6"/>
          <p:cNvSpPr/>
          <p:nvPr/>
        </p:nvSpPr>
        <p:spPr>
          <a:xfrm>
            <a:off x="6438900" y="2082800"/>
            <a:ext cx="4826889" cy="96520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4171A"/>
                </a:solidFill>
                <a:latin typeface="IBM Plex Sans" pitchFamily="34" charset="0"/>
                <a:ea typeface="IBM Plex Sans" pitchFamily="34" charset="-122"/>
                <a:cs typeface="IBM Plex Sans" pitchFamily="34" charset="-120"/>
              </a:rPr>
              <a:t>Clearance must meet sensitivity, department must match (or be public / cross-department for CISO-DPO roles), and the declared query purpose must be one of the document's permitted purposes. Every drop is reasoned.</a:t>
            </a:r>
            <a:endParaRPr lang="en-US" sz="1350" dirty="0"/>
          </a:p>
        </p:txBody>
      </p:sp>
      <p:sp>
        <p:nvSpPr>
          <p:cNvPr id="9" name="Shape 7"/>
          <p:cNvSpPr/>
          <p:nvPr/>
        </p:nvSpPr>
        <p:spPr>
          <a:xfrm>
            <a:off x="812800" y="3775075"/>
            <a:ext cx="5194300" cy="2066925"/>
          </a:xfrm>
          <a:prstGeom prst="roundRect">
            <a:avLst>
              <a:gd name="adj" fmla="val 6144"/>
            </a:avLst>
          </a:prstGeom>
          <a:solidFill>
            <a:srgbClr val="EFEDE6"/>
          </a:solidFill>
          <a:ln/>
        </p:spPr>
      </p:sp>
      <p:sp>
        <p:nvSpPr>
          <p:cNvPr id="10" name="Text 8"/>
          <p:cNvSpPr/>
          <p:nvPr/>
        </p:nvSpPr>
        <p:spPr>
          <a:xfrm>
            <a:off x="1066800" y="4029075"/>
            <a:ext cx="482688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5E"/>
                </a:solidFill>
                <a:latin typeface="IBM Plex Mono" pitchFamily="34" charset="0"/>
                <a:ea typeface="IBM Plex Mono" pitchFamily="34" charset="-122"/>
                <a:cs typeface="IBM Plex Mono" pitchFamily="34" charset="-120"/>
              </a:rPr>
              <a:t>03 · PROMPT-INJECTION SCREENING</a:t>
            </a:r>
            <a:endParaRPr lang="en-US" sz="1200" dirty="0"/>
          </a:p>
        </p:txBody>
      </p:sp>
      <p:sp>
        <p:nvSpPr>
          <p:cNvPr id="11" name="Text 9"/>
          <p:cNvSpPr/>
          <p:nvPr/>
        </p:nvSpPr>
        <p:spPr>
          <a:xfrm>
            <a:off x="1066800" y="4327525"/>
            <a:ext cx="4826889" cy="96520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4171A"/>
                </a:solidFill>
                <a:latin typeface="IBM Plex Sans" pitchFamily="34" charset="0"/>
                <a:ea typeface="IBM Plex Sans" pitchFamily="34" charset="-122"/>
                <a:cs typeface="IBM Plex Sans" pitchFamily="34" charset="-120"/>
              </a:rPr>
              <a:t>Weighted pattern bank plus zero-width, HTML-comment and base64 checks score every chunk. Flagged chunks are dropped; the rest are wrapped in &lt;untrusted_document&gt; delimiters, StruQ-style.</a:t>
            </a:r>
            <a:endParaRPr lang="en-US" sz="1350" dirty="0"/>
          </a:p>
        </p:txBody>
      </p:sp>
      <p:sp>
        <p:nvSpPr>
          <p:cNvPr id="12" name="Shape 10"/>
          <p:cNvSpPr/>
          <p:nvPr/>
        </p:nvSpPr>
        <p:spPr>
          <a:xfrm>
            <a:off x="6184900" y="3775075"/>
            <a:ext cx="5194300" cy="2066925"/>
          </a:xfrm>
          <a:prstGeom prst="roundRect">
            <a:avLst>
              <a:gd name="adj" fmla="val 6144"/>
            </a:avLst>
          </a:prstGeom>
          <a:solidFill>
            <a:srgbClr val="EFEDE6"/>
          </a:solidFill>
          <a:ln/>
        </p:spPr>
      </p:sp>
      <p:sp>
        <p:nvSpPr>
          <p:cNvPr id="13" name="Text 11"/>
          <p:cNvSpPr/>
          <p:nvPr/>
        </p:nvSpPr>
        <p:spPr>
          <a:xfrm>
            <a:off x="6438900" y="4029075"/>
            <a:ext cx="482688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F5E"/>
                </a:solidFill>
                <a:latin typeface="IBM Plex Mono" pitchFamily="34" charset="0"/>
                <a:ea typeface="IBM Plex Mono" pitchFamily="34" charset="-122"/>
                <a:cs typeface="IBM Plex Mono" pitchFamily="34" charset="-120"/>
              </a:rPr>
              <a:t>04 · TAMPER-EVIDENT AUDIT LOG</a:t>
            </a:r>
            <a:endParaRPr lang="en-US" sz="1200" dirty="0"/>
          </a:p>
        </p:txBody>
      </p:sp>
      <p:sp>
        <p:nvSpPr>
          <p:cNvPr id="14" name="Text 12"/>
          <p:cNvSpPr/>
          <p:nvPr/>
        </p:nvSpPr>
        <p:spPr>
          <a:xfrm>
            <a:off x="6438900" y="4327525"/>
            <a:ext cx="4826889" cy="730250"/>
          </a:xfrm>
          <a:prstGeom prst="rect">
            <a:avLst/>
          </a:prstGeom>
          <a:noFill/>
          <a:ln/>
        </p:spPr>
        <p:txBody>
          <a:bodyPr wrap="square" lIns="0" tIns="0" rIns="0" bIns="0" rtlCol="0" anchor="t">
            <a:normAutofit/>
          </a:bodyPr>
          <a:lstStyle/>
          <a:p>
            <a:pPr marL="0" indent="0" algn="l">
              <a:lnSpc>
                <a:spcPts val="1890"/>
              </a:lnSpc>
              <a:buNone/>
            </a:pPr>
            <a:r>
              <a:rPr lang="en-US" sz="1350" dirty="0">
                <a:solidFill>
                  <a:srgbClr val="14171A"/>
                </a:solidFill>
                <a:latin typeface="IBM Plex Sans" pitchFamily="34" charset="0"/>
                <a:ea typeface="IBM Plex Sans" pitchFamily="34" charset="-122"/>
                <a:cs typeface="IBM Plex Sans" pitchFamily="34" charset="-120"/>
              </a:rPr>
              <a:t>SHA-256 hash chain over every decision; verify() reports the first broken link. Stores entity types and counts only — never the values — so the audit trail itself is never a leak.</a:t>
            </a:r>
            <a:endParaRPr lang="en-US" sz="1350" dirty="0"/>
          </a:p>
        </p:txBody>
      </p:sp>
      <p:sp>
        <p:nvSpPr>
          <p:cNvPr id="15" name="Text 13"/>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Tech stack</a:t>
            </a:r>
            <a:endParaRPr lang="en-US" sz="3200" dirty="0"/>
          </a:p>
        </p:txBody>
      </p:sp>
      <p:sp>
        <p:nvSpPr>
          <p:cNvPr id="3" name="Shape 1"/>
          <p:cNvSpPr/>
          <p:nvPr/>
        </p:nvSpPr>
        <p:spPr>
          <a:xfrm>
            <a:off x="812800" y="1555750"/>
            <a:ext cx="3386634" cy="4286250"/>
          </a:xfrm>
          <a:prstGeom prst="roundRect">
            <a:avLst>
              <a:gd name="adj" fmla="val 3750"/>
            </a:avLst>
          </a:prstGeom>
          <a:solidFill>
            <a:srgbClr val="EFEDE6"/>
          </a:solidFill>
          <a:ln/>
        </p:spPr>
      </p:sp>
      <p:sp>
        <p:nvSpPr>
          <p:cNvPr id="4" name="Text 2"/>
          <p:cNvSpPr/>
          <p:nvPr/>
        </p:nvSpPr>
        <p:spPr>
          <a:xfrm>
            <a:off x="1066800" y="1809750"/>
            <a:ext cx="296499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F5E"/>
                </a:solidFill>
                <a:latin typeface="Space Grotesk" pitchFamily="34" charset="0"/>
                <a:ea typeface="Space Grotesk" pitchFamily="34" charset="-122"/>
                <a:cs typeface="Space Grotesk" pitchFamily="34" charset="-120"/>
              </a:rPr>
              <a:t>Core &amp; testing</a:t>
            </a:r>
            <a:endParaRPr lang="en-US" sz="1600" dirty="0"/>
          </a:p>
        </p:txBody>
      </p:sp>
      <p:sp>
        <p:nvSpPr>
          <p:cNvPr id="5" name="Text 3"/>
          <p:cNvSpPr/>
          <p:nvPr/>
        </p:nvSpPr>
        <p:spPr>
          <a:xfrm>
            <a:off x="1066800" y="2178050"/>
            <a:ext cx="2964993" cy="1549400"/>
          </a:xfrm>
          <a:prstGeom prst="rect">
            <a:avLst/>
          </a:prstGeom>
          <a:noFill/>
          <a:ln/>
        </p:spPr>
        <p:txBody>
          <a:bodyPr wrap="square" lIns="0" tIns="0" rIns="0" bIns="0" rtlCol="0" anchor="t">
            <a:normAutofit/>
          </a:bodyPr>
          <a:lstStyle/>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Python 3.13, packaged as </a:t>
            </a:r>
            <a:r>
              <a:rPr lang="en-US" sz="1250" i="1" dirty="0">
                <a:solidFill>
                  <a:srgbClr val="14171A"/>
                </a:solidFill>
                <a:latin typeface="IBM Plex Sans" pitchFamily="34" charset="0"/>
                <a:ea typeface="IBM Plex Sans" pitchFamily="34" charset="-122"/>
                <a:cs typeface="IBM Plex Sans" pitchFamily="34" charset="-120"/>
              </a:rPr>
              <a:t>privacyguard</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46 unit &amp; end-to-end tests, pytest, test-driven</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python-dotenv for config; works fully offline</a:t>
            </a:r>
            <a:endParaRPr lang="en-US" sz="1250" dirty="0"/>
          </a:p>
        </p:txBody>
      </p:sp>
      <p:sp>
        <p:nvSpPr>
          <p:cNvPr id="6" name="Shape 4"/>
          <p:cNvSpPr/>
          <p:nvPr/>
        </p:nvSpPr>
        <p:spPr>
          <a:xfrm>
            <a:off x="4402634" y="1555750"/>
            <a:ext cx="3386634" cy="4286250"/>
          </a:xfrm>
          <a:prstGeom prst="roundRect">
            <a:avLst>
              <a:gd name="adj" fmla="val 3750"/>
            </a:avLst>
          </a:prstGeom>
          <a:solidFill>
            <a:srgbClr val="EFEDE6"/>
          </a:solidFill>
          <a:ln/>
        </p:spPr>
      </p:sp>
      <p:sp>
        <p:nvSpPr>
          <p:cNvPr id="7" name="Text 5"/>
          <p:cNvSpPr/>
          <p:nvPr/>
        </p:nvSpPr>
        <p:spPr>
          <a:xfrm>
            <a:off x="4656634" y="1809750"/>
            <a:ext cx="296499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F5E"/>
                </a:solidFill>
                <a:latin typeface="Space Grotesk" pitchFamily="34" charset="0"/>
                <a:ea typeface="Space Grotesk" pitchFamily="34" charset="-122"/>
                <a:cs typeface="Space Grotesk" pitchFamily="34" charset="-120"/>
              </a:rPr>
              <a:t>Data &amp; retrieval</a:t>
            </a:r>
            <a:endParaRPr lang="en-US" sz="1600" dirty="0"/>
          </a:p>
        </p:txBody>
      </p:sp>
      <p:sp>
        <p:nvSpPr>
          <p:cNvPr id="8" name="Text 6"/>
          <p:cNvSpPr/>
          <p:nvPr/>
        </p:nvSpPr>
        <p:spPr>
          <a:xfrm>
            <a:off x="4656634" y="2178050"/>
            <a:ext cx="2964993" cy="1803400"/>
          </a:xfrm>
          <a:prstGeom prst="rect">
            <a:avLst/>
          </a:prstGeom>
          <a:noFill/>
          <a:ln/>
        </p:spPr>
        <p:txBody>
          <a:bodyPr wrap="square" lIns="0" tIns="0" rIns="0" bIns="0" rtlCol="0" anchor="t">
            <a:normAutofit/>
          </a:bodyPr>
          <a:lstStyle/>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Faker (en_IN): 80-doc synthetic corpus, 369 PII spans, 4 poisoned docs</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scikit-learn TF-IDF behind a swappable Retriever protocol</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Streamlit demo — baseline vs. guarded, side by side</a:t>
            </a:r>
            <a:endParaRPr lang="en-US" sz="1250" dirty="0"/>
          </a:p>
        </p:txBody>
      </p:sp>
      <p:sp>
        <p:nvSpPr>
          <p:cNvPr id="9" name="Shape 7"/>
          <p:cNvSpPr/>
          <p:nvPr/>
        </p:nvSpPr>
        <p:spPr>
          <a:xfrm>
            <a:off x="7992467" y="1555750"/>
            <a:ext cx="3386634" cy="4286250"/>
          </a:xfrm>
          <a:prstGeom prst="roundRect">
            <a:avLst>
              <a:gd name="adj" fmla="val 3750"/>
            </a:avLst>
          </a:prstGeom>
          <a:solidFill>
            <a:srgbClr val="EFEDE6"/>
          </a:solidFill>
          <a:ln/>
        </p:spPr>
      </p:sp>
      <p:sp>
        <p:nvSpPr>
          <p:cNvPr id="10" name="Text 8"/>
          <p:cNvSpPr/>
          <p:nvPr/>
        </p:nvSpPr>
        <p:spPr>
          <a:xfrm>
            <a:off x="8246467" y="1809750"/>
            <a:ext cx="2964993"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F6F5E"/>
                </a:solidFill>
                <a:latin typeface="Space Grotesk" pitchFamily="34" charset="0"/>
                <a:ea typeface="Space Grotesk" pitchFamily="34" charset="-122"/>
                <a:cs typeface="Space Grotesk" pitchFamily="34" charset="-120"/>
              </a:rPr>
              <a:t>LLM &amp; detection</a:t>
            </a:r>
            <a:endParaRPr lang="en-US" sz="1600" dirty="0"/>
          </a:p>
        </p:txBody>
      </p:sp>
      <p:sp>
        <p:nvSpPr>
          <p:cNvPr id="11" name="Text 9"/>
          <p:cNvSpPr/>
          <p:nvPr/>
        </p:nvSpPr>
        <p:spPr>
          <a:xfrm>
            <a:off x="8246467" y="2178050"/>
            <a:ext cx="2964993" cy="1549400"/>
          </a:xfrm>
          <a:prstGeom prst="rect">
            <a:avLst/>
          </a:prstGeom>
          <a:noFill/>
          <a:ln/>
        </p:spPr>
        <p:txBody>
          <a:bodyPr wrap="square" lIns="0" tIns="0" rIns="0" bIns="0" rtlCol="0" anchor="t">
            <a:normAutofit/>
          </a:bodyPr>
          <a:lstStyle/>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Groq (Llama 3.1 8B), OpenAI-compatible API</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Deterministic extractive fallback — demo never breaks offline</a:t>
            </a:r>
            <a:endParaRPr lang="en-US" sz="1250" dirty="0"/>
          </a:p>
          <a:p>
            <a:pPr marL="342900" indent="-342900" algn="l">
              <a:lnSpc>
                <a:spcPts val="2000"/>
              </a:lnSpc>
              <a:buSzPct val="100000"/>
              <a:buChar char="•"/>
            </a:pPr>
            <a:r>
              <a:rPr lang="en-US" sz="1250" dirty="0">
                <a:solidFill>
                  <a:srgbClr val="14171A"/>
                </a:solidFill>
                <a:latin typeface="IBM Plex Sans" pitchFamily="34" charset="0"/>
                <a:ea typeface="IBM Plex Sans" pitchFamily="34" charset="-122"/>
                <a:cs typeface="IBM Plex Sans" pitchFamily="34" charset="-120"/>
              </a:rPr>
              <a:t>Presidio-style regex registry + spaCy </a:t>
            </a:r>
            <a:r>
              <a:rPr lang="en-US" sz="1250" i="1" dirty="0">
                <a:solidFill>
                  <a:srgbClr val="14171A"/>
                </a:solidFill>
                <a:latin typeface="IBM Plex Sans" pitchFamily="34" charset="0"/>
                <a:ea typeface="IBM Plex Sans" pitchFamily="34" charset="-122"/>
                <a:cs typeface="IBM Plex Sans" pitchFamily="34" charset="-120"/>
              </a:rPr>
              <a:t>en_core_web_sm</a:t>
            </a:r>
            <a:r>
              <a:rPr lang="en-US" sz="1250" dirty="0">
                <a:solidFill>
                  <a:srgbClr val="14171A"/>
                </a:solidFill>
                <a:latin typeface="IBM Plex Sans" pitchFamily="34" charset="0"/>
                <a:ea typeface="IBM Plex Sans" pitchFamily="34" charset="-122"/>
                <a:cs typeface="IBM Plex Sans" pitchFamily="34" charset="-120"/>
              </a:rPr>
              <a:t> NER</a:t>
            </a:r>
            <a:endParaRPr lang="en-US" sz="1250" dirty="0"/>
          </a:p>
        </p:txBody>
      </p:sp>
      <p:sp>
        <p:nvSpPr>
          <p:cNvPr id="12" name="Text 10"/>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Current progress against our ten objectives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504950"/>
          <a:ext cx="10566400" cy="3806825"/>
        </p:xfrm>
        <a:graphic>
          <a:graphicData uri="http://schemas.openxmlformats.org/drawingml/2006/table">
            <a:tbl>
              <a:tblPr/>
              <a:tblGrid>
                <a:gridCol w="845312">
                  <a:extLst>
                    <a:ext uri="{9D8B030D-6E8A-4147-A177-3AD203B41FA5}">
                      <a16:colId xmlns:a16="http://schemas.microsoft.com/office/drawing/2014/main" val="20000"/>
                    </a:ext>
                  </a:extLst>
                </a:gridCol>
                <a:gridCol w="6551168">
                  <a:extLst>
                    <a:ext uri="{9D8B030D-6E8A-4147-A177-3AD203B41FA5}">
                      <a16:colId xmlns:a16="http://schemas.microsoft.com/office/drawing/2014/main" val="20001"/>
                    </a:ext>
                  </a:extLst>
                </a:gridCol>
                <a:gridCol w="3169920">
                  <a:extLst>
                    <a:ext uri="{9D8B030D-6E8A-4147-A177-3AD203B41FA5}">
                      <a16:colId xmlns:a16="http://schemas.microsoft.com/office/drawing/2014/main" val="20002"/>
                    </a:ext>
                  </a:extLst>
                </a:gridCol>
              </a:tblGrid>
              <a:tr h="346075">
                <a:tc>
                  <a:txBody>
                    <a:bodyPr/>
                    <a:lstStyle/>
                    <a:p>
                      <a:pPr marL="0" indent="0">
                        <a:lnSpc>
                          <a:spcPts val="1750"/>
                        </a:lnSpc>
                        <a:buNone/>
                      </a:pPr>
                      <a:r>
                        <a:rPr lang="en-US" sz="1250" b="1" dirty="0">
                          <a:solidFill>
                            <a:srgbClr val="4A5568"/>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solidFill>
                      <a:srgbClr val="E8E8E6"/>
                    </a:solidFill>
                  </a:tcPr>
                </a:tc>
                <a:tc>
                  <a:txBody>
                    <a:bodyPr/>
                    <a:lstStyle/>
                    <a:p>
                      <a:pPr marL="0" indent="0">
                        <a:lnSpc>
                          <a:spcPts val="1750"/>
                        </a:lnSpc>
                        <a:buNone/>
                      </a:pPr>
                      <a:r>
                        <a:rPr lang="en-US" sz="1250" b="1" dirty="0">
                          <a:solidFill>
                            <a:srgbClr val="4A5568"/>
                          </a:solidFill>
                          <a:latin typeface="IBM Plex Sans" pitchFamily="34" charset="0"/>
                          <a:ea typeface="IBM Plex Sans" pitchFamily="34" charset="-122"/>
                          <a:cs typeface="IBM Plex Sans" pitchFamily="34" charset="-120"/>
                        </a:rPr>
                        <a:t>Objective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solidFill>
                      <a:srgbClr val="E8E8E6"/>
                    </a:solidFill>
                  </a:tcPr>
                </a:tc>
                <a:tc>
                  <a:txBody>
                    <a:bodyPr/>
                    <a:lstStyle/>
                    <a:p>
                      <a:pPr marL="0" indent="0">
                        <a:lnSpc>
                          <a:spcPts val="1750"/>
                        </a:lnSpc>
                        <a:buNone/>
                      </a:pPr>
                      <a:r>
                        <a:rPr lang="en-US" sz="1250" b="1" dirty="0">
                          <a:solidFill>
                            <a:srgbClr val="4A5568"/>
                          </a:solidFill>
                          <a:latin typeface="IBM Plex Sans" pitchFamily="34" charset="0"/>
                          <a:ea typeface="IBM Plex Sans" pitchFamily="34" charset="-122"/>
                          <a:cs typeface="IBM Plex Sans" pitchFamily="34" charset="-120"/>
                        </a:rPr>
                        <a:t>Status</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solidFill>
                      <a:srgbClr val="E8E8E6"/>
                    </a:solidFill>
                  </a:tcPr>
                </a:tc>
                <a:extLst>
                  <a:ext uri="{0D108BD9-81ED-4DB2-BD59-A6C34878D82A}">
                    <a16:rowId xmlns:a16="http://schemas.microsoft.com/office/drawing/2014/main" val="10000"/>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O1</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Literature review — 14 papers on memorisation, MIA, RAG leakage, injection</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1"/>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O2</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Data-flow map of a RAG enterprise assistant</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2"/>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O3</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Threat taxonomy — LINDDUN + OWASP LLM Top 10</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Done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3"/>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O4</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Two or more real-world incident analyses</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Next stage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4"/>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O5</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Prototype privacy-guard middleware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~50% built — 46 tests</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5"/>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O6</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Quantitative evaluation protocol applied</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4 of 6 metrics measured</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6"/>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O7</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DPIA-style risk register</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Next stage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7"/>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O8</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Clause mapping — DPDP / Rules 2025 / GDPR / EU AI Act</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Next stage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8"/>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O9</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Privacy Assurance Checklist</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Next stage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9"/>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O10</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Limitations &amp; future work documented</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Drafted</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4" name="Text 1"/>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Measured results — seed 42, 20 queries, 5 personas</a:t>
            </a:r>
            <a:endParaRPr lang="en-US" sz="3200" dirty="0"/>
          </a:p>
        </p:txBody>
      </p:sp>
      <p:sp>
        <p:nvSpPr>
          <p:cNvPr id="3" name="Shape 1"/>
          <p:cNvSpPr/>
          <p:nvPr/>
        </p:nvSpPr>
        <p:spPr>
          <a:xfrm>
            <a:off x="812800" y="1530350"/>
            <a:ext cx="5181600" cy="1441450"/>
          </a:xfrm>
          <a:prstGeom prst="roundRect">
            <a:avLst>
              <a:gd name="adj" fmla="val 8811"/>
            </a:avLst>
          </a:prstGeom>
          <a:solidFill>
            <a:srgbClr val="EFEDE6"/>
          </a:solidFill>
          <a:ln/>
        </p:spPr>
      </p:sp>
      <p:sp>
        <p:nvSpPr>
          <p:cNvPr id="4" name="Text 2"/>
          <p:cNvSpPr/>
          <p:nvPr/>
        </p:nvSpPr>
        <p:spPr>
          <a:xfrm>
            <a:off x="1066800" y="1784350"/>
            <a:ext cx="4813808"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PII leakage rate</a:t>
            </a:r>
            <a:endParaRPr lang="en-US" sz="1250" dirty="0"/>
          </a:p>
        </p:txBody>
      </p:sp>
      <p:sp>
        <p:nvSpPr>
          <p:cNvPr id="5" name="Text 3"/>
          <p:cNvSpPr/>
          <p:nvPr/>
        </p:nvSpPr>
        <p:spPr>
          <a:xfrm>
            <a:off x="1066800" y="2222500"/>
            <a:ext cx="1041400" cy="482600"/>
          </a:xfrm>
          <a:prstGeom prst="rect">
            <a:avLst/>
          </a:prstGeom>
          <a:noFill/>
          <a:ln/>
        </p:spPr>
        <p:txBody>
          <a:bodyPr wrap="square" lIns="0" tIns="0" rIns="0" bIns="0" rtlCol="0" anchor="t">
            <a:normAutofit/>
          </a:bodyPr>
          <a:lstStyle/>
          <a:p>
            <a:pPr marL="0" indent="0" algn="l">
              <a:lnSpc>
                <a:spcPts val="3640"/>
              </a:lnSpc>
              <a:buNone/>
            </a:pPr>
            <a:r>
              <a:rPr lang="en-US" sz="2600" strike="sngStrike" dirty="0">
                <a:solidFill>
                  <a:srgbClr val="8A8F8C"/>
                </a:solidFill>
                <a:latin typeface="IBM Plex Mono" pitchFamily="34" charset="0"/>
                <a:ea typeface="IBM Plex Mono" pitchFamily="34" charset="-122"/>
                <a:cs typeface="IBM Plex Mono" pitchFamily="34" charset="-120"/>
              </a:rPr>
              <a:t>34.8%</a:t>
            </a:r>
            <a:endParaRPr lang="en-US" sz="2600" dirty="0"/>
          </a:p>
        </p:txBody>
      </p:sp>
      <p:pic>
        <p:nvPicPr>
          <p:cNvPr id="6" name="Image 0" descr="arrow-right"/>
          <p:cNvPicPr>
            <a:picLocks noChangeAspect="1"/>
          </p:cNvPicPr>
          <p:nvPr/>
        </p:nvPicPr>
        <p:blipFill>
          <a:blip r:embed="rId3"/>
          <a:srcRect/>
          <a:stretch/>
        </p:blipFill>
        <p:spPr>
          <a:xfrm>
            <a:off x="2184400" y="2444750"/>
            <a:ext cx="228600" cy="127000"/>
          </a:xfrm>
          <a:prstGeom prst="rect">
            <a:avLst/>
          </a:prstGeom>
        </p:spPr>
      </p:pic>
      <p:sp>
        <p:nvSpPr>
          <p:cNvPr id="7" name="Text 4"/>
          <p:cNvSpPr/>
          <p:nvPr/>
        </p:nvSpPr>
        <p:spPr>
          <a:xfrm>
            <a:off x="2540000" y="2082800"/>
            <a:ext cx="1148159" cy="66040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F5E"/>
                </a:solidFill>
                <a:latin typeface="IBM Plex Mono" pitchFamily="34" charset="0"/>
                <a:ea typeface="IBM Plex Mono" pitchFamily="34" charset="-122"/>
                <a:cs typeface="IBM Plex Mono" pitchFamily="34" charset="-120"/>
              </a:rPr>
              <a:t>0.0%</a:t>
            </a:r>
            <a:endParaRPr lang="en-US" sz="3600" dirty="0"/>
          </a:p>
        </p:txBody>
      </p:sp>
      <p:sp>
        <p:nvSpPr>
          <p:cNvPr id="8" name="Shape 5"/>
          <p:cNvSpPr/>
          <p:nvPr/>
        </p:nvSpPr>
        <p:spPr>
          <a:xfrm>
            <a:off x="6197600" y="1530350"/>
            <a:ext cx="5181600" cy="1441450"/>
          </a:xfrm>
          <a:prstGeom prst="roundRect">
            <a:avLst>
              <a:gd name="adj" fmla="val 8811"/>
            </a:avLst>
          </a:prstGeom>
          <a:solidFill>
            <a:srgbClr val="EFEDE6"/>
          </a:solidFill>
          <a:ln/>
        </p:spPr>
      </p:sp>
      <p:sp>
        <p:nvSpPr>
          <p:cNvPr id="9" name="Text 6"/>
          <p:cNvSpPr/>
          <p:nvPr/>
        </p:nvSpPr>
        <p:spPr>
          <a:xfrm>
            <a:off x="6451600" y="1784350"/>
            <a:ext cx="4813808"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4A5568"/>
                </a:solidFill>
                <a:latin typeface="IBM Plex Sans" pitchFamily="34" charset="0"/>
                <a:ea typeface="IBM Plex Sans" pitchFamily="34" charset="-122"/>
                <a:cs typeface="IBM Plex Sans" pitchFamily="34" charset="-120"/>
              </a:rPr>
              <a:t>Over-sharing retrieval rate</a:t>
            </a:r>
            <a:endParaRPr lang="en-US" sz="1250" dirty="0"/>
          </a:p>
        </p:txBody>
      </p:sp>
      <p:sp>
        <p:nvSpPr>
          <p:cNvPr id="10" name="Text 7"/>
          <p:cNvSpPr/>
          <p:nvPr/>
        </p:nvSpPr>
        <p:spPr>
          <a:xfrm>
            <a:off x="6451600" y="2222500"/>
            <a:ext cx="1041400" cy="482600"/>
          </a:xfrm>
          <a:prstGeom prst="rect">
            <a:avLst/>
          </a:prstGeom>
          <a:noFill/>
          <a:ln/>
        </p:spPr>
        <p:txBody>
          <a:bodyPr wrap="square" lIns="0" tIns="0" rIns="0" bIns="0" rtlCol="0" anchor="t">
            <a:normAutofit/>
          </a:bodyPr>
          <a:lstStyle/>
          <a:p>
            <a:pPr marL="0" indent="0" algn="l">
              <a:lnSpc>
                <a:spcPts val="3640"/>
              </a:lnSpc>
              <a:buNone/>
            </a:pPr>
            <a:r>
              <a:rPr lang="en-US" sz="2600" strike="sngStrike" dirty="0">
                <a:solidFill>
                  <a:srgbClr val="8A8F8C"/>
                </a:solidFill>
                <a:latin typeface="IBM Plex Mono" pitchFamily="34" charset="0"/>
                <a:ea typeface="IBM Plex Mono" pitchFamily="34" charset="-122"/>
                <a:cs typeface="IBM Plex Mono" pitchFamily="34" charset="-120"/>
              </a:rPr>
              <a:t>60.8%</a:t>
            </a:r>
            <a:endParaRPr lang="en-US" sz="2600" dirty="0"/>
          </a:p>
        </p:txBody>
      </p:sp>
      <p:pic>
        <p:nvPicPr>
          <p:cNvPr id="11" name="Image 1" descr="arrow-right"/>
          <p:cNvPicPr>
            <a:picLocks noChangeAspect="1"/>
          </p:cNvPicPr>
          <p:nvPr/>
        </p:nvPicPr>
        <p:blipFill>
          <a:blip r:embed="rId3"/>
          <a:srcRect/>
          <a:stretch/>
        </p:blipFill>
        <p:spPr>
          <a:xfrm>
            <a:off x="7569200" y="2444750"/>
            <a:ext cx="228600" cy="127000"/>
          </a:xfrm>
          <a:prstGeom prst="rect">
            <a:avLst/>
          </a:prstGeom>
        </p:spPr>
      </p:pic>
      <p:sp>
        <p:nvSpPr>
          <p:cNvPr id="12" name="Text 8"/>
          <p:cNvSpPr/>
          <p:nvPr/>
        </p:nvSpPr>
        <p:spPr>
          <a:xfrm>
            <a:off x="7924800" y="2082800"/>
            <a:ext cx="1148159" cy="66040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F5E"/>
                </a:solidFill>
                <a:latin typeface="IBM Plex Mono" pitchFamily="34" charset="0"/>
                <a:ea typeface="IBM Plex Mono" pitchFamily="34" charset="-122"/>
                <a:cs typeface="IBM Plex Mono" pitchFamily="34" charset="-120"/>
              </a:rPr>
              <a:t>0.0%</a:t>
            </a:r>
            <a:endParaRPr lang="en-US" sz="3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12800" y="3225800"/>
          <a:ext cx="10566400" cy="1730375"/>
        </p:xfrm>
        <a:graphic>
          <a:graphicData uri="http://schemas.openxmlformats.org/drawingml/2006/table">
            <a:tbl>
              <a:tblPr/>
              <a:tblGrid>
                <a:gridCol w="4649216">
                  <a:extLst>
                    <a:ext uri="{9D8B030D-6E8A-4147-A177-3AD203B41FA5}">
                      <a16:colId xmlns:a16="http://schemas.microsoft.com/office/drawing/2014/main" val="20000"/>
                    </a:ext>
                  </a:extLst>
                </a:gridCol>
                <a:gridCol w="2958592">
                  <a:extLst>
                    <a:ext uri="{9D8B030D-6E8A-4147-A177-3AD203B41FA5}">
                      <a16:colId xmlns:a16="http://schemas.microsoft.com/office/drawing/2014/main" val="20001"/>
                    </a:ext>
                  </a:extLst>
                </a:gridCol>
                <a:gridCol w="2958592">
                  <a:extLst>
                    <a:ext uri="{9D8B030D-6E8A-4147-A177-3AD203B41FA5}">
                      <a16:colId xmlns:a16="http://schemas.microsoft.com/office/drawing/2014/main" val="20002"/>
                    </a:ext>
                  </a:extLst>
                </a:gridCol>
              </a:tblGrid>
              <a:tr h="346075">
                <a:tc>
                  <a:txBody>
                    <a:bodyPr/>
                    <a:lstStyle/>
                    <a:p>
                      <a:pPr marL="0" indent="0">
                        <a:lnSpc>
                          <a:spcPts val="1750"/>
                        </a:lnSpc>
                        <a:buNone/>
                      </a:pPr>
                      <a:r>
                        <a:rPr lang="en-US" sz="1250" b="1" dirty="0">
                          <a:solidFill>
                            <a:srgbClr val="4A5568"/>
                          </a:solidFill>
                          <a:latin typeface="IBM Plex Sans" pitchFamily="34" charset="0"/>
                          <a:ea typeface="IBM Plex Sans" pitchFamily="34" charset="-122"/>
                          <a:cs typeface="IBM Plex Sans" pitchFamily="34" charset="-120"/>
                        </a:rPr>
                        <a:t>Metric</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solidFill>
                      <a:srgbClr val="E8E8E6"/>
                    </a:solidFill>
                  </a:tcPr>
                </a:tc>
                <a:tc>
                  <a:txBody>
                    <a:bodyPr/>
                    <a:lstStyle/>
                    <a:p>
                      <a:pPr marL="0" indent="0">
                        <a:lnSpc>
                          <a:spcPts val="1750"/>
                        </a:lnSpc>
                        <a:buNone/>
                      </a:pPr>
                      <a:r>
                        <a:rPr lang="en-US" sz="1250" b="1" dirty="0">
                          <a:solidFill>
                            <a:srgbClr val="4A5568"/>
                          </a:solidFill>
                          <a:latin typeface="IBM Plex Sans" pitchFamily="34" charset="0"/>
                          <a:ea typeface="IBM Plex Sans" pitchFamily="34" charset="-122"/>
                          <a:cs typeface="IBM Plex Sans" pitchFamily="34" charset="-120"/>
                        </a:rPr>
                        <a:t>Baseline RAG</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solidFill>
                      <a:srgbClr val="E8E8E6"/>
                    </a:solidFill>
                  </a:tcPr>
                </a:tc>
                <a:tc>
                  <a:txBody>
                    <a:bodyPr/>
                    <a:lstStyle/>
                    <a:p>
                      <a:pPr marL="0" indent="0">
                        <a:lnSpc>
                          <a:spcPts val="1750"/>
                        </a:lnSpc>
                        <a:buNone/>
                      </a:pPr>
                      <a:r>
                        <a:rPr lang="en-US" sz="1250" b="1" dirty="0">
                          <a:solidFill>
                            <a:srgbClr val="4A5568"/>
                          </a:solidFill>
                          <a:latin typeface="IBM Plex Sans" pitchFamily="34" charset="0"/>
                          <a:ea typeface="IBM Plex Sans" pitchFamily="34" charset="-122"/>
                          <a:cs typeface="IBM Plex Sans" pitchFamily="34" charset="-120"/>
                        </a:rPr>
                        <a:t>Guarded RAG</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solidFill>
                      <a:srgbClr val="E8E8E6"/>
                    </a:solidFill>
                  </a:tcPr>
                </a:tc>
                <a:extLst>
                  <a:ext uri="{0D108BD9-81ED-4DB2-BD59-A6C34878D82A}">
                    <a16:rowId xmlns:a16="http://schemas.microsoft.com/office/drawing/2014/main" val="10000"/>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Redaction precision / recall</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2F6F5E"/>
                          </a:solidFill>
                          <a:latin typeface="IBM Plex Sans" pitchFamily="34" charset="0"/>
                          <a:ea typeface="IBM Plex Sans" pitchFamily="34" charset="-122"/>
                          <a:cs typeface="IBM Plex Sans" pitchFamily="34" charset="-120"/>
                        </a:rPr>
                        <a:t>92.9% / 95.9%</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1"/>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Added latency</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0 ms</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2F6F5E"/>
                          </a:solidFill>
                          <a:latin typeface="IBM Plex Sans" pitchFamily="34" charset="0"/>
                          <a:ea typeface="IBM Plex Sans" pitchFamily="34" charset="-122"/>
                          <a:cs typeface="IBM Plex Sans" pitchFamily="34" charset="-120"/>
                        </a:rPr>
                        <a:t>+22 ms</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2"/>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Prompt-injection success rate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8A8F8C"/>
                          </a:solidFill>
                          <a:latin typeface="IBM Plex Sans" pitchFamily="34" charset="0"/>
                          <a:ea typeface="IBM Plex Sans" pitchFamily="34" charset="-122"/>
                          <a:cs typeface="IBM Plex Sans" pitchFamily="34" charset="-120"/>
                        </a:rPr>
                        <a:t>next stage — needs LLM-judge</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3"/>
                  </a:ext>
                </a:extLst>
              </a:tr>
              <a:tr h="346075">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Answer-quality retention</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14171A"/>
                          </a:solidFill>
                          <a:latin typeface="IBM Plex Sans" pitchFamily="34" charset="0"/>
                          <a:ea typeface="IBM Plex Sans" pitchFamily="34" charset="-122"/>
                          <a:cs typeface="IBM Plex Sans" pitchFamily="34" charset="-120"/>
                        </a:rPr>
                        <a:t>—</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tc>
                  <a:txBody>
                    <a:bodyPr/>
                    <a:lstStyle/>
                    <a:p>
                      <a:pPr marL="0" indent="0">
                        <a:lnSpc>
                          <a:spcPts val="1750"/>
                        </a:lnSpc>
                        <a:buNone/>
                      </a:pPr>
                      <a:r>
                        <a:rPr lang="en-US" sz="1250" dirty="0">
                          <a:solidFill>
                            <a:srgbClr val="8A8F8C"/>
                          </a:solidFill>
                          <a:latin typeface="IBM Plex Sans" pitchFamily="34" charset="0"/>
                          <a:ea typeface="IBM Plex Sans" pitchFamily="34" charset="-122"/>
                          <a:cs typeface="IBM Plex Sans" pitchFamily="34" charset="-120"/>
                        </a:rPr>
                        <a:t>next stage — needs generation eval</a:t>
                      </a:r>
                      <a:endParaRPr lang="en-US" sz="1250" dirty="0">
                        <a:latin typeface="IBM Plex Sans" charset="0"/>
                        <a:ea typeface="IBM Plex Sans" charset="0"/>
                        <a:cs typeface="IBM Plex Sans" charset="0"/>
                      </a:endParaRPr>
                    </a:p>
                  </a:txBody>
                  <a:tcPr marL="55563" marR="55563" marT="55563" marB="55563">
                    <a:lnL w="12700" cap="flat" cmpd="sng" algn="ctr">
                      <a:solidFill>
                        <a:srgbClr val="C7C8C7"/>
                      </a:solidFill>
                      <a:prstDash val="solid"/>
                      <a:round/>
                      <a:headEnd type="none" w="med" len="med"/>
                      <a:tailEnd type="none" w="med" len="med"/>
                    </a:lnL>
                    <a:lnR w="12700" cap="flat" cmpd="sng" algn="ctr">
                      <a:solidFill>
                        <a:srgbClr val="C7C8C7"/>
                      </a:solidFill>
                      <a:prstDash val="solid"/>
                      <a:round/>
                      <a:headEnd type="none" w="med" len="med"/>
                      <a:tailEnd type="none" w="med" len="med"/>
                    </a:lnR>
                    <a:lnT w="12700" cap="flat" cmpd="sng" algn="ctr">
                      <a:solidFill>
                        <a:srgbClr val="C7C8C7"/>
                      </a:solidFill>
                      <a:prstDash val="solid"/>
                      <a:round/>
                      <a:headEnd type="none" w="med" len="med"/>
                      <a:tailEnd type="none" w="med" len="med"/>
                    </a:lnT>
                    <a:lnB w="12700" cap="flat" cmpd="sng" algn="ctr">
                      <a:solidFill>
                        <a:srgbClr val="C7C8C7"/>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 9"/>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F6F5E"/>
        </a:solidFill>
        <a:effectLst/>
      </p:bgPr>
    </p:bg>
    <p:spTree>
      <p:nvGrpSpPr>
        <p:cNvPr id="1" name=""/>
        <p:cNvGrpSpPr/>
        <p:nvPr/>
      </p:nvGrpSpPr>
      <p:grpSpPr>
        <a:xfrm>
          <a:off x="0" y="0"/>
          <a:ext cx="0" cy="0"/>
          <a:chOff x="0" y="0"/>
          <a:chExt cx="0" cy="0"/>
        </a:xfrm>
      </p:grpSpPr>
      <p:sp>
        <p:nvSpPr>
          <p:cNvPr id="2" name="Text 0"/>
          <p:cNvSpPr/>
          <p:nvPr/>
        </p:nvSpPr>
        <p:spPr>
          <a:xfrm>
            <a:off x="812800" y="812800"/>
            <a:ext cx="9810750" cy="46355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FAFAF8"/>
                </a:solidFill>
                <a:latin typeface="Space Grotesk" pitchFamily="34" charset="0"/>
                <a:ea typeface="Space Grotesk" pitchFamily="34" charset="-122"/>
                <a:cs typeface="Space Grotesk" pitchFamily="34" charset="-120"/>
              </a:rPr>
              <a:t>What nobody else in our survey does together</a:t>
            </a:r>
            <a:endParaRPr lang="en-US" sz="3000" dirty="0"/>
          </a:p>
        </p:txBody>
      </p:sp>
      <p:sp>
        <p:nvSpPr>
          <p:cNvPr id="3" name="Text 1"/>
          <p:cNvSpPr/>
          <p:nvPr/>
        </p:nvSpPr>
        <p:spPr>
          <a:xfrm>
            <a:off x="812800" y="1606550"/>
            <a:ext cx="3418535" cy="52070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8FD6BE"/>
                </a:solidFill>
                <a:latin typeface="IBM Plex Mono" pitchFamily="34" charset="0"/>
                <a:ea typeface="IBM Plex Mono" pitchFamily="34" charset="-122"/>
                <a:cs typeface="IBM Plex Mono" pitchFamily="34" charset="-120"/>
              </a:rPr>
              <a:t>01</a:t>
            </a:r>
            <a:endParaRPr lang="en-US" sz="2800" dirty="0"/>
          </a:p>
        </p:txBody>
      </p:sp>
      <p:sp>
        <p:nvSpPr>
          <p:cNvPr id="4" name="Text 2"/>
          <p:cNvSpPr/>
          <p:nvPr/>
        </p:nvSpPr>
        <p:spPr>
          <a:xfrm>
            <a:off x="812800" y="2228850"/>
            <a:ext cx="3418535"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AF8"/>
                </a:solidFill>
                <a:latin typeface="Space Grotesk" pitchFamily="34" charset="0"/>
                <a:ea typeface="Space Grotesk" pitchFamily="34" charset="-122"/>
                <a:cs typeface="Space Grotesk" pitchFamily="34" charset="-120"/>
              </a:rPr>
              <a:t>Role- and purpose-aware</a:t>
            </a:r>
            <a:endParaRPr lang="en-US" sz="1600" dirty="0"/>
          </a:p>
        </p:txBody>
      </p:sp>
      <p:sp>
        <p:nvSpPr>
          <p:cNvPr id="5" name="Text 3"/>
          <p:cNvSpPr/>
          <p:nvPr/>
        </p:nvSpPr>
        <p:spPr>
          <a:xfrm>
            <a:off x="812800" y="2597150"/>
            <a:ext cx="3418535" cy="965200"/>
          </a:xfrm>
          <a:prstGeom prst="rect">
            <a:avLst/>
          </a:prstGeom>
          <a:noFill/>
          <a:ln/>
        </p:spPr>
        <p:txBody>
          <a:bodyPr wrap="square" lIns="0" tIns="0" rIns="0" bIns="0" rtlCol="0" anchor="t">
            <a:normAutofit/>
          </a:bodyPr>
          <a:lstStyle/>
          <a:p>
            <a:pPr marL="0" indent="0" algn="l">
              <a:lnSpc>
                <a:spcPts val="1875"/>
              </a:lnSpc>
              <a:buNone/>
            </a:pPr>
            <a:r>
              <a:rPr lang="en-US" sz="1250" dirty="0">
                <a:solidFill>
                  <a:srgbClr val="DCEAE5"/>
                </a:solidFill>
                <a:latin typeface="IBM Plex Sans" pitchFamily="34" charset="0"/>
                <a:ea typeface="IBM Plex Sans" pitchFamily="34" charset="-122"/>
                <a:cs typeface="IBM Plex Sans" pitchFamily="34" charset="-120"/>
              </a:rPr>
              <a:t>Every survey defence works on tokens, logits or embeddings. Ours encodes DPDP's purpose-limitation principle as a runtime rule — access isn't just who, it's why.</a:t>
            </a:r>
            <a:endParaRPr lang="en-US" sz="1250" dirty="0"/>
          </a:p>
        </p:txBody>
      </p:sp>
      <p:sp>
        <p:nvSpPr>
          <p:cNvPr id="6" name="Text 4"/>
          <p:cNvSpPr/>
          <p:nvPr/>
        </p:nvSpPr>
        <p:spPr>
          <a:xfrm>
            <a:off x="4436566" y="1606550"/>
            <a:ext cx="3418535" cy="52070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8FD6BE"/>
                </a:solidFill>
                <a:latin typeface="IBM Plex Mono" pitchFamily="34" charset="0"/>
                <a:ea typeface="IBM Plex Mono" pitchFamily="34" charset="-122"/>
                <a:cs typeface="IBM Plex Mono" pitchFamily="34" charset="-120"/>
              </a:rPr>
              <a:t>02</a:t>
            </a:r>
            <a:endParaRPr lang="en-US" sz="2800" dirty="0"/>
          </a:p>
        </p:txBody>
      </p:sp>
      <p:sp>
        <p:nvSpPr>
          <p:cNvPr id="7" name="Text 5"/>
          <p:cNvSpPr/>
          <p:nvPr/>
        </p:nvSpPr>
        <p:spPr>
          <a:xfrm>
            <a:off x="4436566" y="2228850"/>
            <a:ext cx="3418535"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AF8"/>
                </a:solidFill>
                <a:latin typeface="Space Grotesk" pitchFamily="34" charset="0"/>
                <a:ea typeface="Space Grotesk" pitchFamily="34" charset="-122"/>
                <a:cs typeface="Space Grotesk" pitchFamily="34" charset="-120"/>
              </a:rPr>
              <a:t>India-first PII</a:t>
            </a:r>
            <a:endParaRPr lang="en-US" sz="1600" dirty="0"/>
          </a:p>
        </p:txBody>
      </p:sp>
      <p:sp>
        <p:nvSpPr>
          <p:cNvPr id="8" name="Text 6"/>
          <p:cNvSpPr/>
          <p:nvPr/>
        </p:nvSpPr>
        <p:spPr>
          <a:xfrm>
            <a:off x="4436566" y="2597150"/>
            <a:ext cx="3418535" cy="965200"/>
          </a:xfrm>
          <a:prstGeom prst="rect">
            <a:avLst/>
          </a:prstGeom>
          <a:noFill/>
          <a:ln/>
        </p:spPr>
        <p:txBody>
          <a:bodyPr wrap="square" lIns="0" tIns="0" rIns="0" bIns="0" rtlCol="0" anchor="t">
            <a:normAutofit/>
          </a:bodyPr>
          <a:lstStyle/>
          <a:p>
            <a:pPr marL="0" indent="0" algn="l">
              <a:lnSpc>
                <a:spcPts val="1875"/>
              </a:lnSpc>
              <a:buNone/>
            </a:pPr>
            <a:r>
              <a:rPr lang="en-US" sz="1250" dirty="0">
                <a:solidFill>
                  <a:srgbClr val="DCEAE5"/>
                </a:solidFill>
                <a:latin typeface="IBM Plex Sans" pitchFamily="34" charset="0"/>
                <a:ea typeface="IBM Plex Sans" pitchFamily="34" charset="-122"/>
                <a:cs typeface="IBM Plex Sans" pitchFamily="34" charset="-120"/>
              </a:rPr>
              <a:t>Presidio's stock recognizers are US-centric. Ours validate Aadhaar with the real Verhoeff checksum, plus PAN, IFSC, UPI and rupee salary formats.</a:t>
            </a:r>
            <a:endParaRPr lang="en-US" sz="1250" dirty="0"/>
          </a:p>
        </p:txBody>
      </p:sp>
      <p:sp>
        <p:nvSpPr>
          <p:cNvPr id="9" name="Text 7"/>
          <p:cNvSpPr/>
          <p:nvPr/>
        </p:nvSpPr>
        <p:spPr>
          <a:xfrm>
            <a:off x="8060333" y="1606550"/>
            <a:ext cx="3418535" cy="52070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8FD6BE"/>
                </a:solidFill>
                <a:latin typeface="IBM Plex Mono" pitchFamily="34" charset="0"/>
                <a:ea typeface="IBM Plex Mono" pitchFamily="34" charset="-122"/>
                <a:cs typeface="IBM Plex Mono" pitchFamily="34" charset="-120"/>
              </a:rPr>
              <a:t>03</a:t>
            </a:r>
            <a:endParaRPr lang="en-US" sz="2800" dirty="0"/>
          </a:p>
        </p:txBody>
      </p:sp>
      <p:sp>
        <p:nvSpPr>
          <p:cNvPr id="10" name="Text 8"/>
          <p:cNvSpPr/>
          <p:nvPr/>
        </p:nvSpPr>
        <p:spPr>
          <a:xfrm>
            <a:off x="8060333" y="2228850"/>
            <a:ext cx="3418535" cy="5080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AFAF8"/>
                </a:solidFill>
                <a:latin typeface="Space Grotesk" pitchFamily="34" charset="0"/>
                <a:ea typeface="Space Grotesk" pitchFamily="34" charset="-122"/>
                <a:cs typeface="Space Grotesk" pitchFamily="34" charset="-120"/>
              </a:rPr>
              <a:t>Integrated &amp; measured as one pipeline</a:t>
            </a:r>
            <a:endParaRPr lang="en-US" sz="1600" dirty="0"/>
          </a:p>
        </p:txBody>
      </p:sp>
      <p:sp>
        <p:nvSpPr>
          <p:cNvPr id="11" name="Text 9"/>
          <p:cNvSpPr/>
          <p:nvPr/>
        </p:nvSpPr>
        <p:spPr>
          <a:xfrm>
            <a:off x="8060333" y="2838450"/>
            <a:ext cx="3418535" cy="965200"/>
          </a:xfrm>
          <a:prstGeom prst="rect">
            <a:avLst/>
          </a:prstGeom>
          <a:noFill/>
          <a:ln/>
        </p:spPr>
        <p:txBody>
          <a:bodyPr wrap="square" lIns="0" tIns="0" rIns="0" bIns="0" rtlCol="0" anchor="t">
            <a:normAutofit/>
          </a:bodyPr>
          <a:lstStyle/>
          <a:p>
            <a:pPr marL="0" indent="0" algn="l">
              <a:lnSpc>
                <a:spcPts val="1875"/>
              </a:lnSpc>
              <a:buNone/>
            </a:pPr>
            <a:r>
              <a:rPr lang="en-US" sz="1250" dirty="0">
                <a:solidFill>
                  <a:srgbClr val="DCEAE5"/>
                </a:solidFill>
                <a:latin typeface="IBM Plex Sans" pitchFamily="34" charset="0"/>
                <a:ea typeface="IBM Plex Sans" pitchFamily="34" charset="-122"/>
                <a:cs typeface="IBM Plex Sans" pitchFamily="34" charset="-120"/>
              </a:rPr>
              <a:t>The injection-survey's own gap: defences "not evaluated together". Ours are — four controls, one audit chain, one baseline-vs-guarded evaluation, reproducible from a seed.</a:t>
            </a:r>
            <a:endParaRPr lang="en-US" sz="1250" dirty="0"/>
          </a:p>
        </p:txBody>
      </p:sp>
      <p:sp>
        <p:nvSpPr>
          <p:cNvPr id="12" name="Text 10"/>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D8D5"/>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14171A"/>
                </a:solidFill>
                <a:latin typeface="Space Grotesk" pitchFamily="34" charset="0"/>
                <a:ea typeface="Space Grotesk" pitchFamily="34" charset="-122"/>
                <a:cs typeface="Space Grotesk" pitchFamily="34" charset="-120"/>
              </a:rPr>
              <a:t>Said before we're asked</a:t>
            </a:r>
            <a:endParaRPr lang="en-US" sz="3200" dirty="0"/>
          </a:p>
        </p:txBody>
      </p:sp>
      <p:sp>
        <p:nvSpPr>
          <p:cNvPr id="3" name="Shape 1"/>
          <p:cNvSpPr/>
          <p:nvPr/>
        </p:nvSpPr>
        <p:spPr>
          <a:xfrm>
            <a:off x="812800" y="2219325"/>
            <a:ext cx="10566400" cy="0"/>
          </a:xfrm>
          <a:prstGeom prst="line">
            <a:avLst/>
          </a:prstGeom>
          <a:noFill/>
          <a:ln w="6350">
            <a:solidFill>
              <a:srgbClr val="E3E1D9"/>
            </a:solidFill>
            <a:prstDash val="solid"/>
          </a:ln>
        </p:spPr>
      </p:sp>
      <p:sp>
        <p:nvSpPr>
          <p:cNvPr id="4" name="Shape 2"/>
          <p:cNvSpPr/>
          <p:nvPr/>
        </p:nvSpPr>
        <p:spPr>
          <a:xfrm>
            <a:off x="812800" y="1619250"/>
            <a:ext cx="38100" cy="228600"/>
          </a:xfrm>
          <a:prstGeom prst="roundRect">
            <a:avLst>
              <a:gd name="adj" fmla="val 50000"/>
            </a:avLst>
          </a:prstGeom>
          <a:solidFill>
            <a:srgbClr val="B8860B"/>
          </a:solidFill>
          <a:ln/>
        </p:spPr>
      </p:sp>
      <p:sp>
        <p:nvSpPr>
          <p:cNvPr id="5" name="Text 3"/>
          <p:cNvSpPr/>
          <p:nvPr/>
        </p:nvSpPr>
        <p:spPr>
          <a:xfrm>
            <a:off x="1028700" y="1619250"/>
            <a:ext cx="10661015" cy="4826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71A"/>
                </a:solidFill>
                <a:latin typeface="IBM Plex Sans" pitchFamily="34" charset="0"/>
                <a:ea typeface="IBM Plex Sans" pitchFamily="34" charset="-122"/>
                <a:cs typeface="IBM Plex Sans" pitchFamily="34" charset="-120"/>
              </a:rPr>
              <a:t>Synthetic corpus</a:t>
            </a:r>
            <a:r>
              <a:rPr lang="en-US" sz="1300" dirty="0">
                <a:solidFill>
                  <a:srgbClr val="14171A"/>
                </a:solidFill>
                <a:latin typeface="IBM Plex Sans" pitchFamily="34" charset="0"/>
                <a:ea typeface="IBM Plex Sans" pitchFamily="34" charset="-122"/>
                <a:cs typeface="IBM Plex Sans" pitchFamily="34" charset="-120"/>
              </a:rPr>
              <a:t> — precision and recall are measured on data we generated. Real enterprise text is messier; PIIBench shows detectors generalise poorly.</a:t>
            </a:r>
            <a:endParaRPr lang="en-US" sz="1300" dirty="0"/>
          </a:p>
        </p:txBody>
      </p:sp>
      <p:sp>
        <p:nvSpPr>
          <p:cNvPr id="6" name="Shape 4"/>
          <p:cNvSpPr/>
          <p:nvPr/>
        </p:nvSpPr>
        <p:spPr>
          <a:xfrm>
            <a:off x="812800" y="2962275"/>
            <a:ext cx="10566400" cy="0"/>
          </a:xfrm>
          <a:prstGeom prst="line">
            <a:avLst/>
          </a:prstGeom>
          <a:noFill/>
          <a:ln w="6350">
            <a:solidFill>
              <a:srgbClr val="E3E1D9"/>
            </a:solidFill>
            <a:prstDash val="solid"/>
          </a:ln>
        </p:spPr>
      </p:sp>
      <p:sp>
        <p:nvSpPr>
          <p:cNvPr id="7" name="Shape 5"/>
          <p:cNvSpPr/>
          <p:nvPr/>
        </p:nvSpPr>
        <p:spPr>
          <a:xfrm>
            <a:off x="812800" y="2362200"/>
            <a:ext cx="38100" cy="228600"/>
          </a:xfrm>
          <a:prstGeom prst="roundRect">
            <a:avLst>
              <a:gd name="adj" fmla="val 50000"/>
            </a:avLst>
          </a:prstGeom>
          <a:solidFill>
            <a:srgbClr val="B8860B"/>
          </a:solidFill>
          <a:ln/>
        </p:spPr>
      </p:sp>
      <p:sp>
        <p:nvSpPr>
          <p:cNvPr id="8" name="Text 6"/>
          <p:cNvSpPr/>
          <p:nvPr/>
        </p:nvSpPr>
        <p:spPr>
          <a:xfrm>
            <a:off x="1028700" y="2362200"/>
            <a:ext cx="10661015" cy="4826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71A"/>
                </a:solidFill>
                <a:latin typeface="IBM Plex Sans" pitchFamily="34" charset="0"/>
                <a:ea typeface="IBM Plex Sans" pitchFamily="34" charset="-122"/>
                <a:cs typeface="IBM Plex Sans" pitchFamily="34" charset="-120"/>
              </a:rPr>
              <a:t>Heuristic injection screening</a:t>
            </a:r>
            <a:r>
              <a:rPr lang="en-US" sz="1300" dirty="0">
                <a:solidFill>
                  <a:srgbClr val="14171A"/>
                </a:solidFill>
                <a:latin typeface="IBM Plex Sans" pitchFamily="34" charset="0"/>
                <a:ea typeface="IBM Plex Sans" pitchFamily="34" charset="-122"/>
                <a:cs typeface="IBM Plex Sans" pitchFamily="34" charset="-120"/>
              </a:rPr>
              <a:t> — pattern banks catch the payloads we planted; a paraphrased or multilingual injection would pass. The LLM-judge hook exists but isn't implemented.</a:t>
            </a:r>
            <a:endParaRPr lang="en-US" sz="1300" dirty="0"/>
          </a:p>
        </p:txBody>
      </p:sp>
      <p:sp>
        <p:nvSpPr>
          <p:cNvPr id="9" name="Shape 7"/>
          <p:cNvSpPr/>
          <p:nvPr/>
        </p:nvSpPr>
        <p:spPr>
          <a:xfrm>
            <a:off x="812800" y="3476625"/>
            <a:ext cx="10566400" cy="0"/>
          </a:xfrm>
          <a:prstGeom prst="line">
            <a:avLst/>
          </a:prstGeom>
          <a:noFill/>
          <a:ln w="6350">
            <a:solidFill>
              <a:srgbClr val="E3E1D9"/>
            </a:solidFill>
            <a:prstDash val="solid"/>
          </a:ln>
        </p:spPr>
      </p:sp>
      <p:sp>
        <p:nvSpPr>
          <p:cNvPr id="10" name="Shape 8"/>
          <p:cNvSpPr/>
          <p:nvPr/>
        </p:nvSpPr>
        <p:spPr>
          <a:xfrm>
            <a:off x="812800" y="3105150"/>
            <a:ext cx="38100" cy="228600"/>
          </a:xfrm>
          <a:prstGeom prst="roundRect">
            <a:avLst>
              <a:gd name="adj" fmla="val 50000"/>
            </a:avLst>
          </a:prstGeom>
          <a:solidFill>
            <a:srgbClr val="B8860B"/>
          </a:solidFill>
          <a:ln/>
        </p:spPr>
      </p:sp>
      <p:sp>
        <p:nvSpPr>
          <p:cNvPr id="11" name="Text 9"/>
          <p:cNvSpPr/>
          <p:nvPr/>
        </p:nvSpPr>
        <p:spPr>
          <a:xfrm>
            <a:off x="1028700" y="3105150"/>
            <a:ext cx="9885864"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71A"/>
                </a:solidFill>
                <a:latin typeface="IBM Plex Sans" pitchFamily="34" charset="0"/>
                <a:ea typeface="IBM Plex Sans" pitchFamily="34" charset="-122"/>
                <a:cs typeface="IBM Plex Sans" pitchFamily="34" charset="-120"/>
              </a:rPr>
              <a:t>Two metrics unmeasured</a:t>
            </a:r>
            <a:r>
              <a:rPr lang="en-US" sz="1300" dirty="0">
                <a:solidFill>
                  <a:srgbClr val="14171A"/>
                </a:solidFill>
                <a:latin typeface="IBM Plex Sans" pitchFamily="34" charset="0"/>
                <a:ea typeface="IBM Plex Sans" pitchFamily="34" charset="-122"/>
                <a:cs typeface="IBM Plex Sans" pitchFamily="34" charset="-120"/>
              </a:rPr>
              <a:t> — injection success rate and answer-quality retention need generation-level evaluation with a real LLM.</a:t>
            </a:r>
            <a:endParaRPr lang="en-US" sz="1300" dirty="0"/>
          </a:p>
        </p:txBody>
      </p:sp>
      <p:sp>
        <p:nvSpPr>
          <p:cNvPr id="12" name="Shape 10"/>
          <p:cNvSpPr/>
          <p:nvPr/>
        </p:nvSpPr>
        <p:spPr>
          <a:xfrm>
            <a:off x="812800" y="3990975"/>
            <a:ext cx="10566400" cy="0"/>
          </a:xfrm>
          <a:prstGeom prst="line">
            <a:avLst/>
          </a:prstGeom>
          <a:noFill/>
          <a:ln w="6350">
            <a:solidFill>
              <a:srgbClr val="E3E1D9"/>
            </a:solidFill>
            <a:prstDash val="solid"/>
          </a:ln>
        </p:spPr>
      </p:sp>
      <p:sp>
        <p:nvSpPr>
          <p:cNvPr id="13" name="Shape 11"/>
          <p:cNvSpPr/>
          <p:nvPr/>
        </p:nvSpPr>
        <p:spPr>
          <a:xfrm>
            <a:off x="812800" y="3619500"/>
            <a:ext cx="38100" cy="228600"/>
          </a:xfrm>
          <a:prstGeom prst="roundRect">
            <a:avLst>
              <a:gd name="adj" fmla="val 50000"/>
            </a:avLst>
          </a:prstGeom>
          <a:solidFill>
            <a:srgbClr val="B8860B"/>
          </a:solidFill>
          <a:ln/>
        </p:spPr>
      </p:sp>
      <p:sp>
        <p:nvSpPr>
          <p:cNvPr id="14" name="Text 12"/>
          <p:cNvSpPr/>
          <p:nvPr/>
        </p:nvSpPr>
        <p:spPr>
          <a:xfrm>
            <a:off x="1028700" y="3619500"/>
            <a:ext cx="9836094"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71A"/>
                </a:solidFill>
                <a:latin typeface="IBM Plex Sans" pitchFamily="34" charset="0"/>
                <a:ea typeface="IBM Plex Sans" pitchFamily="34" charset="-122"/>
                <a:cs typeface="IBM Plex Sans" pitchFamily="34" charset="-120"/>
              </a:rPr>
              <a:t>Static access model</a:t>
            </a:r>
            <a:r>
              <a:rPr lang="en-US" sz="1300" dirty="0">
                <a:solidFill>
                  <a:srgbClr val="14171A"/>
                </a:solidFill>
                <a:latin typeface="IBM Plex Sans" pitchFamily="34" charset="0"/>
                <a:ea typeface="IBM Plex Sans" pitchFamily="34" charset="-122"/>
                <a:cs typeface="IBM Plex Sans" pitchFamily="34" charset="-120"/>
              </a:rPr>
              <a:t> — department, clearance and purpose are tags on synthetic documents, not an identity-provider integration.</a:t>
            </a:r>
            <a:endParaRPr lang="en-US" sz="1300" dirty="0"/>
          </a:p>
        </p:txBody>
      </p:sp>
      <p:sp>
        <p:nvSpPr>
          <p:cNvPr id="15" name="Shape 13"/>
          <p:cNvSpPr/>
          <p:nvPr/>
        </p:nvSpPr>
        <p:spPr>
          <a:xfrm>
            <a:off x="812800" y="4133850"/>
            <a:ext cx="38100" cy="228600"/>
          </a:xfrm>
          <a:prstGeom prst="roundRect">
            <a:avLst>
              <a:gd name="adj" fmla="val 50000"/>
            </a:avLst>
          </a:prstGeom>
          <a:solidFill>
            <a:srgbClr val="B8860B"/>
          </a:solidFill>
          <a:ln/>
        </p:spPr>
      </p:sp>
      <p:sp>
        <p:nvSpPr>
          <p:cNvPr id="16" name="Text 14"/>
          <p:cNvSpPr/>
          <p:nvPr/>
        </p:nvSpPr>
        <p:spPr>
          <a:xfrm>
            <a:off x="1028700" y="4133850"/>
            <a:ext cx="7367464" cy="25400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171A"/>
                </a:solidFill>
                <a:latin typeface="IBM Plex Sans" pitchFamily="34" charset="0"/>
                <a:ea typeface="IBM Plex Sans" pitchFamily="34" charset="-122"/>
                <a:cs typeface="IBM Plex Sans" pitchFamily="34" charset="-120"/>
              </a:rPr>
              <a:t>No embedding-inversion defence</a:t>
            </a:r>
            <a:r>
              <a:rPr lang="en-US" sz="1300" dirty="0">
                <a:solidFill>
                  <a:srgbClr val="14171A"/>
                </a:solidFill>
                <a:latin typeface="IBM Plex Sans" pitchFamily="34" charset="0"/>
                <a:ea typeface="IBM Plex Sans" pitchFamily="34" charset="-122"/>
                <a:cs typeface="IBM Plex Sans" pitchFamily="34" charset="-120"/>
              </a:rPr>
              <a:t> — redacting the query is not the same as protecting the index.</a:t>
            </a:r>
            <a:endParaRPr lang="en-US" sz="1300" dirty="0"/>
          </a:p>
        </p:txBody>
      </p:sp>
      <p:sp>
        <p:nvSpPr>
          <p:cNvPr id="17" name="Text 15"/>
          <p:cNvSpPr/>
          <p:nvPr/>
        </p:nvSpPr>
        <p:spPr>
          <a:xfrm>
            <a:off x="812800" y="6242050"/>
            <a:ext cx="151933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F8C"/>
                </a:solidFill>
                <a:latin typeface="IBM Plex Sans" pitchFamily="34" charset="0"/>
                <a:ea typeface="IBM Plex Sans" pitchFamily="34" charset="-122"/>
                <a:cs typeface="IBM Plex Sans" pitchFamily="34" charset="-120"/>
              </a:rPr>
              <a:t>Copilot Privacy Guard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71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88950"/>
          </a:xfrm>
          <a:prstGeom prst="rect">
            <a:avLst/>
          </a:prstGeom>
          <a:noFill/>
          <a:ln/>
        </p:spPr>
        <p:txBody>
          <a:bodyPr wrap="square" lIns="0" tIns="0" rIns="0" bIns="0" rtlCol="0" anchor="t">
            <a:normAutofit/>
          </a:bodyPr>
          <a:lstStyle/>
          <a:p>
            <a:pPr marL="0" indent="0" algn="l">
              <a:lnSpc>
                <a:spcPts val="3680"/>
              </a:lnSpc>
              <a:buNone/>
            </a:pPr>
            <a:r>
              <a:rPr lang="en-US" sz="3200" b="1" dirty="0">
                <a:solidFill>
                  <a:srgbClr val="FAFAF8"/>
                </a:solidFill>
                <a:latin typeface="Space Grotesk" pitchFamily="34" charset="0"/>
                <a:ea typeface="Space Grotesk" pitchFamily="34" charset="-122"/>
                <a:cs typeface="Space Grotesk" pitchFamily="34" charset="-120"/>
              </a:rPr>
              <a:t>Next-stage build order — Review 3 to final</a:t>
            </a:r>
            <a:endParaRPr lang="en-US" sz="3200" dirty="0"/>
          </a:p>
        </p:txBody>
      </p:sp>
      <p:sp>
        <p:nvSpPr>
          <p:cNvPr id="3" name="Text 1"/>
          <p:cNvSpPr/>
          <p:nvPr/>
        </p:nvSpPr>
        <p:spPr>
          <a:xfrm>
            <a:off x="812800" y="1530350"/>
            <a:ext cx="14237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1</a:t>
            </a:r>
            <a:endParaRPr lang="en-US" sz="1400" dirty="0"/>
          </a:p>
        </p:txBody>
      </p:sp>
      <p:sp>
        <p:nvSpPr>
          <p:cNvPr id="4" name="Text 2"/>
          <p:cNvSpPr/>
          <p:nvPr/>
        </p:nvSpPr>
        <p:spPr>
          <a:xfrm>
            <a:off x="1031379" y="1530350"/>
            <a:ext cx="5216560" cy="46990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Answer-quality retention — ROUGE-L + cosine on 11 non-sensitive queries via Groq</a:t>
            </a:r>
            <a:endParaRPr lang="en-US" sz="1250" dirty="0"/>
          </a:p>
        </p:txBody>
      </p:sp>
      <p:sp>
        <p:nvSpPr>
          <p:cNvPr id="5" name="Text 3"/>
          <p:cNvSpPr/>
          <p:nvPr/>
        </p:nvSpPr>
        <p:spPr>
          <a:xfrm>
            <a:off x="6096000" y="1530350"/>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2</a:t>
            </a:r>
            <a:endParaRPr lang="en-US" sz="1400" dirty="0"/>
          </a:p>
        </p:txBody>
      </p:sp>
      <p:sp>
        <p:nvSpPr>
          <p:cNvPr id="6" name="Text 4"/>
          <p:cNvSpPr/>
          <p:nvPr/>
        </p:nvSpPr>
        <p:spPr>
          <a:xfrm>
            <a:off x="6329759" y="1530350"/>
            <a:ext cx="5041908"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LLM-as-judge for injection — closes the injection-success-rate metric</a:t>
            </a:r>
            <a:endParaRPr lang="en-US" sz="1250" dirty="0"/>
          </a:p>
        </p:txBody>
      </p:sp>
      <p:sp>
        <p:nvSpPr>
          <p:cNvPr id="7" name="Text 5"/>
          <p:cNvSpPr/>
          <p:nvPr/>
        </p:nvSpPr>
        <p:spPr>
          <a:xfrm>
            <a:off x="812800" y="2608263"/>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3</a:t>
            </a:r>
            <a:endParaRPr lang="en-US" sz="1400" dirty="0"/>
          </a:p>
        </p:txBody>
      </p:sp>
      <p:sp>
        <p:nvSpPr>
          <p:cNvPr id="8" name="Text 6"/>
          <p:cNvSpPr/>
          <p:nvPr/>
        </p:nvSpPr>
        <p:spPr>
          <a:xfrm>
            <a:off x="1046559" y="2608263"/>
            <a:ext cx="5164747"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DPDP clause mapping — DPDP §4/6/8/9, Rules 2025, GDPR, EU AI Act</a:t>
            </a:r>
            <a:endParaRPr lang="en-US" sz="1250" dirty="0"/>
          </a:p>
        </p:txBody>
      </p:sp>
      <p:sp>
        <p:nvSpPr>
          <p:cNvPr id="9" name="Text 7"/>
          <p:cNvSpPr/>
          <p:nvPr/>
        </p:nvSpPr>
        <p:spPr>
          <a:xfrm>
            <a:off x="6096000" y="2608263"/>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4</a:t>
            </a:r>
            <a:endParaRPr lang="en-US" sz="1400" dirty="0"/>
          </a:p>
        </p:txBody>
      </p:sp>
      <p:sp>
        <p:nvSpPr>
          <p:cNvPr id="10" name="Text 8"/>
          <p:cNvSpPr/>
          <p:nvPr/>
        </p:nvSpPr>
        <p:spPr>
          <a:xfrm>
            <a:off x="6329759" y="2608263"/>
            <a:ext cx="4960049"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DPIA risk register — six threats × likelihood × impact → residual risk</a:t>
            </a:r>
            <a:endParaRPr lang="en-US" sz="1250" dirty="0"/>
          </a:p>
        </p:txBody>
      </p:sp>
      <p:sp>
        <p:nvSpPr>
          <p:cNvPr id="11" name="Text 9"/>
          <p:cNvSpPr/>
          <p:nvPr/>
        </p:nvSpPr>
        <p:spPr>
          <a:xfrm>
            <a:off x="812800" y="3686175"/>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5</a:t>
            </a:r>
            <a:endParaRPr lang="en-US" sz="1400" dirty="0"/>
          </a:p>
        </p:txBody>
      </p:sp>
      <p:sp>
        <p:nvSpPr>
          <p:cNvPr id="12" name="Text 10"/>
          <p:cNvSpPr/>
          <p:nvPr/>
        </p:nvSpPr>
        <p:spPr>
          <a:xfrm>
            <a:off x="1046559" y="3686175"/>
            <a:ext cx="5133475"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Incident analyses — two documented enterprise-assistant disclosures</a:t>
            </a:r>
            <a:endParaRPr lang="en-US" sz="1250" dirty="0"/>
          </a:p>
        </p:txBody>
      </p:sp>
      <p:sp>
        <p:nvSpPr>
          <p:cNvPr id="13" name="Text 11"/>
          <p:cNvSpPr/>
          <p:nvPr/>
        </p:nvSpPr>
        <p:spPr>
          <a:xfrm>
            <a:off x="6096000" y="3686175"/>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6</a:t>
            </a:r>
            <a:endParaRPr lang="en-US" sz="1400" dirty="0"/>
          </a:p>
        </p:txBody>
      </p:sp>
      <p:sp>
        <p:nvSpPr>
          <p:cNvPr id="14" name="Text 12"/>
          <p:cNvSpPr/>
          <p:nvPr/>
        </p:nvSpPr>
        <p:spPr>
          <a:xfrm>
            <a:off x="6329759" y="3686175"/>
            <a:ext cx="5104247"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Privacy Assurance Checklist — verifiable statements derived from 1–5</a:t>
            </a:r>
            <a:endParaRPr lang="en-US" sz="1250" dirty="0"/>
          </a:p>
        </p:txBody>
      </p:sp>
      <p:sp>
        <p:nvSpPr>
          <p:cNvPr id="15" name="Text 13"/>
          <p:cNvSpPr/>
          <p:nvPr/>
        </p:nvSpPr>
        <p:spPr>
          <a:xfrm>
            <a:off x="812800" y="4764088"/>
            <a:ext cx="157559" cy="27305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5FA593"/>
                </a:solidFill>
                <a:latin typeface="IBM Plex Mono" pitchFamily="34" charset="0"/>
                <a:ea typeface="IBM Plex Mono" pitchFamily="34" charset="-122"/>
                <a:cs typeface="IBM Plex Mono" pitchFamily="34" charset="-120"/>
              </a:rPr>
              <a:t>7</a:t>
            </a:r>
            <a:endParaRPr lang="en-US" sz="1400" dirty="0"/>
          </a:p>
        </p:txBody>
      </p:sp>
      <p:sp>
        <p:nvSpPr>
          <p:cNvPr id="16" name="Text 14"/>
          <p:cNvSpPr/>
          <p:nvPr/>
        </p:nvSpPr>
        <p:spPr>
          <a:xfrm>
            <a:off x="1046559" y="4764088"/>
            <a:ext cx="4804202" cy="247650"/>
          </a:xfrm>
          <a:prstGeom prst="rect">
            <a:avLst/>
          </a:prstGeom>
          <a:noFill/>
          <a:ln/>
        </p:spPr>
        <p:txBody>
          <a:bodyPr wrap="square" lIns="0" tIns="0" rIns="0" bIns="0" rtlCol="0" anchor="t">
            <a:normAutofit/>
          </a:bodyPr>
          <a:lstStyle/>
          <a:p>
            <a:pPr marL="0" indent="0" algn="l">
              <a:lnSpc>
                <a:spcPts val="1750"/>
              </a:lnSpc>
              <a:buNone/>
            </a:pPr>
            <a:r>
              <a:rPr lang="en-US" sz="1250" dirty="0">
                <a:solidFill>
                  <a:srgbClr val="DCE3E1"/>
                </a:solidFill>
                <a:latin typeface="IBM Plex Sans" pitchFamily="34" charset="0"/>
                <a:ea typeface="IBM Plex Sans" pitchFamily="34" charset="-122"/>
                <a:cs typeface="IBM Plex Sans" pitchFamily="34" charset="-120"/>
              </a:rPr>
              <a:t>Dense-embedding retriever behind the existing Retriever protocol</a:t>
            </a:r>
            <a:endParaRPr lang="en-US" sz="1250" dirty="0"/>
          </a:p>
        </p:txBody>
      </p:sp>
      <p:sp>
        <p:nvSpPr>
          <p:cNvPr id="17" name="Shape 15"/>
          <p:cNvSpPr/>
          <p:nvPr/>
        </p:nvSpPr>
        <p:spPr>
          <a:xfrm>
            <a:off x="6096000" y="4764088"/>
            <a:ext cx="5283200" cy="1077913"/>
          </a:xfrm>
          <a:prstGeom prst="roundRect">
            <a:avLst>
              <a:gd name="adj" fmla="val 9426"/>
            </a:avLst>
          </a:prstGeom>
          <a:solidFill>
            <a:srgbClr val="1D2225"/>
          </a:solidFill>
          <a:ln/>
        </p:spPr>
      </p:sp>
      <p:sp>
        <p:nvSpPr>
          <p:cNvPr id="18" name="Text 16"/>
          <p:cNvSpPr/>
          <p:nvPr/>
        </p:nvSpPr>
        <p:spPr>
          <a:xfrm>
            <a:off x="6273800" y="5061744"/>
            <a:ext cx="507542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91"/>
                </a:solidFill>
                <a:latin typeface="IBM Plex Sans" pitchFamily="34" charset="0"/>
                <a:ea typeface="IBM Plex Sans" pitchFamily="34" charset="-122"/>
                <a:cs typeface="IBM Plex Sans" pitchFamily="34" charset="-120"/>
              </a:rPr>
              <a:t>Thank you — questions welcome</a:t>
            </a:r>
            <a:endParaRPr lang="en-US" sz="1200" dirty="0"/>
          </a:p>
        </p:txBody>
      </p:sp>
      <p:sp>
        <p:nvSpPr>
          <p:cNvPr id="19" name="Text 17"/>
          <p:cNvSpPr/>
          <p:nvPr/>
        </p:nvSpPr>
        <p:spPr>
          <a:xfrm>
            <a:off x="6273800" y="5334794"/>
            <a:ext cx="507542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FA593"/>
                </a:solidFill>
                <a:latin typeface="IBM Plex Mono" pitchFamily="34" charset="0"/>
                <a:ea typeface="IBM Plex Mono" pitchFamily="34" charset="-122"/>
                <a:cs typeface="IBM Plex Mono" pitchFamily="34" charset="-120"/>
              </a:rPr>
              <a:t>github.com/Adi07289/copilot-privacy-guard</a:t>
            </a:r>
            <a:endParaRPr lang="en-US" sz="1200" dirty="0"/>
          </a:p>
        </p:txBody>
      </p:sp>
      <p:sp>
        <p:nvSpPr>
          <p:cNvPr id="20" name="Text 18"/>
          <p:cNvSpPr/>
          <p:nvPr/>
        </p:nvSpPr>
        <p:spPr>
          <a:xfrm>
            <a:off x="812800" y="6242050"/>
            <a:ext cx="198463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391"/>
                </a:solidFill>
                <a:latin typeface="IBM Plex Sans" pitchFamily="34" charset="0"/>
                <a:ea typeface="IBM Plex Sans" pitchFamily="34" charset="-122"/>
                <a:cs typeface="IBM Plex Sans" pitchFamily="34" charset="-120"/>
              </a:rPr>
              <a:t>Aditya Sharma · Aarav Raina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Privacy Guard</dc:title>
  <dc:subject>PptxGenJS Presentation</dc:subject>
  <dc:creator>PptxGenJS</dc:creator>
  <cp:lastModifiedBy>Aditya Sharma</cp:lastModifiedBy>
  <cp:revision>2</cp:revision>
  <dcterms:created xsi:type="dcterms:W3CDTF">2026-09-17T09:15:43Z</dcterms:created>
  <dcterms:modified xsi:type="dcterms:W3CDTF">2026-09-17T09:16:02Z</dcterms:modified>
</cp:coreProperties>
</file>